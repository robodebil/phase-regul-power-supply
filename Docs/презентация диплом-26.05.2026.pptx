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charts/chart3.xml" ContentType="application/vnd.openxmlformats-officedocument.drawingml.chart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7694" r:id="rId2"/>
    <p:sldId id="7695" r:id="rId3"/>
    <p:sldId id="7696" r:id="rId4"/>
    <p:sldId id="7697" r:id="rId5"/>
    <p:sldId id="7699" r:id="rId6"/>
    <p:sldId id="7698" r:id="rId7"/>
    <p:sldId id="7700" r:id="rId8"/>
    <p:sldId id="7701" r:id="rId9"/>
    <p:sldId id="7702" r:id="rId10"/>
  </p:sldIdLst>
  <p:sldSz cx="12192000" cy="6858000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mbria Math" panose="02040503050406030204" pitchFamily="18" charset="0"/>
      <p:regular r:id="rId18"/>
    </p:embeddedFont>
  </p:embeddedFontLst>
  <p:custDataLst>
    <p:tags r:id="rId19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0" userDrawn="1">
          <p15:clr>
            <a:srgbClr val="A4A3A4"/>
          </p15:clr>
        </p15:guide>
        <p15:guide id="2" pos="2479" userDrawn="1">
          <p15:clr>
            <a:srgbClr val="A4A3A4"/>
          </p15:clr>
        </p15:guide>
        <p15:guide id="3" orient="horz" pos="482" userDrawn="1">
          <p15:clr>
            <a:srgbClr val="A4A3A4"/>
          </p15:clr>
        </p15:guide>
        <p15:guide id="4" orient="horz" pos="1162" userDrawn="1">
          <p15:clr>
            <a:srgbClr val="A4A3A4"/>
          </p15:clr>
        </p15:guide>
        <p15:guide id="5" orient="horz" pos="1366" userDrawn="1">
          <p15:clr>
            <a:srgbClr val="A4A3A4"/>
          </p15:clr>
        </p15:guide>
        <p15:guide id="6" pos="5518" userDrawn="1">
          <p15:clr>
            <a:srgbClr val="A4A3A4"/>
          </p15:clr>
        </p15:guide>
        <p15:guide id="7" orient="horz" pos="2341" userDrawn="1">
          <p15:clr>
            <a:srgbClr val="A4A3A4"/>
          </p15:clr>
        </p15:guide>
        <p15:guide id="8" orient="horz" pos="2591" userDrawn="1">
          <p15:clr>
            <a:srgbClr val="A4A3A4"/>
          </p15:clr>
        </p15:guide>
        <p15:guide id="9" orient="horz" pos="2523" userDrawn="1">
          <p15:clr>
            <a:srgbClr val="A4A3A4"/>
          </p15:clr>
        </p15:guide>
        <p15:guide id="10" pos="6698" userDrawn="1">
          <p15:clr>
            <a:srgbClr val="A4A3A4"/>
          </p15:clr>
        </p15:guide>
        <p15:guide id="11" orient="horz" pos="1117" userDrawn="1">
          <p15:clr>
            <a:srgbClr val="A4A3A4"/>
          </p15:clr>
        </p15:guide>
        <p15:guide id="12" orient="horz" pos="436" userDrawn="1">
          <p15:clr>
            <a:srgbClr val="A4A3A4"/>
          </p15:clr>
        </p15:guide>
        <p15:guide id="14" pos="5450" userDrawn="1">
          <p15:clr>
            <a:srgbClr val="A4A3A4"/>
          </p15:clr>
        </p15:guide>
        <p15:guide id="15" orient="horz" pos="1253" userDrawn="1">
          <p15:clr>
            <a:srgbClr val="A4A3A4"/>
          </p15:clr>
        </p15:guide>
        <p15:guide id="16" pos="6176" userDrawn="1">
          <p15:clr>
            <a:srgbClr val="A4A3A4"/>
          </p15:clr>
        </p15:guide>
        <p15:guide id="17" pos="1527" userDrawn="1">
          <p15:clr>
            <a:srgbClr val="A4A3A4"/>
          </p15:clr>
        </p15:guide>
        <p15:guide id="18" pos="3092" userDrawn="1">
          <p15:clr>
            <a:srgbClr val="A4A3A4"/>
          </p15:clr>
        </p15:guide>
        <p15:guide id="19" pos="5382" userDrawn="1">
          <p15:clr>
            <a:srgbClr val="A4A3A4"/>
          </p15:clr>
        </p15:guide>
        <p15:guide id="21" pos="960" userDrawn="1">
          <p15:clr>
            <a:srgbClr val="A4A3A4"/>
          </p15:clr>
        </p15:guide>
        <p15:guide id="22" pos="2434" userDrawn="1">
          <p15:clr>
            <a:srgbClr val="A4A3A4"/>
          </p15:clr>
        </p15:guide>
        <p15:guide id="23" orient="horz" pos="2047" userDrawn="1">
          <p15:clr>
            <a:srgbClr val="A4A3A4"/>
          </p15:clr>
        </p15:guide>
        <p15:guide id="24" pos="1277" userDrawn="1">
          <p15:clr>
            <a:srgbClr val="A4A3A4"/>
          </p15:clr>
        </p15:guide>
        <p15:guide id="25" pos="40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6397"/>
    <a:srgbClr val="706F6F"/>
    <a:srgbClr val="B24C33"/>
    <a:srgbClr val="E9B622"/>
    <a:srgbClr val="712073"/>
    <a:srgbClr val="006D81"/>
    <a:srgbClr val="EA7125"/>
    <a:srgbClr val="3D378D"/>
    <a:srgbClr val="007E40"/>
    <a:srgbClr val="EDE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0" autoAdjust="0"/>
    <p:restoredTop sz="94035" autoAdjust="0"/>
  </p:normalViewPr>
  <p:slideViewPr>
    <p:cSldViewPr snapToGrid="0" showGuides="1">
      <p:cViewPr varScale="1">
        <p:scale>
          <a:sx n="108" d="100"/>
          <a:sy n="108" d="100"/>
        </p:scale>
        <p:origin x="1188" y="90"/>
      </p:cViewPr>
      <p:guideLst>
        <p:guide orient="horz" pos="3090"/>
        <p:guide pos="2479"/>
        <p:guide orient="horz" pos="482"/>
        <p:guide orient="horz" pos="1162"/>
        <p:guide orient="horz" pos="1366"/>
        <p:guide pos="5518"/>
        <p:guide orient="horz" pos="2341"/>
        <p:guide orient="horz" pos="2591"/>
        <p:guide orient="horz" pos="2523"/>
        <p:guide pos="6698"/>
        <p:guide orient="horz" pos="1117"/>
        <p:guide orient="horz" pos="436"/>
        <p:guide pos="5450"/>
        <p:guide orient="horz" pos="1253"/>
        <p:guide pos="6176"/>
        <p:guide pos="1527"/>
        <p:guide pos="3092"/>
        <p:guide pos="5382"/>
        <p:guide pos="960"/>
        <p:guide pos="2434"/>
        <p:guide orient="horz" pos="2047"/>
        <p:guide pos="1277"/>
        <p:guide pos="407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62" y="90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Stepan\Desktop\&#1076;&#1080;&#1087;&#1083;&#1086;&#1084;\&#1088;&#1072;&#1095;&#1089;&#1095;&#1077;&#1090;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Stepan\Desktop\&#1076;&#1080;&#1087;&#1083;&#1086;&#1084;\&#1088;&#1072;&#1095;&#1089;&#1095;&#1077;&#1090;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oleObject" Target="file:///C:\Users\Stepan\Desktop\&#1076;&#1080;&#1087;&#1083;&#1086;&#1084;\&#1088;&#1072;&#1095;&#1089;&#1095;&#1077;&#109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994520400339974E-2"/>
          <c:y val="0.10859873078846922"/>
          <c:w val="0.88405479165850565"/>
          <c:h val="0.80282255294004479"/>
        </c:manualLayout>
      </c:layout>
      <c:scatterChart>
        <c:scatterStyle val="smoothMarker"/>
        <c:varyColors val="0"/>
        <c:ser>
          <c:idx val="3"/>
          <c:order val="0"/>
          <c:tx>
            <c:v>12мм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>
                <a:solidFill>
                  <a:schemeClr val="tx1"/>
                </a:solidFill>
                <a:prstDash val="dash"/>
              </a:ln>
            </c:spPr>
            <c:trendlineType val="poly"/>
            <c:order val="6"/>
            <c:dispRSqr val="0"/>
            <c:dispEq val="0"/>
          </c:trendline>
          <c:xVal>
            <c:numRef>
              <c:f>[рачсчет.xlsx]НХ!$K$44:$K$57</c:f>
              <c:numCache>
                <c:formatCode>General</c:formatCode>
                <c:ptCount val="14"/>
                <c:pt idx="0">
                  <c:v>1243</c:v>
                </c:pt>
                <c:pt idx="1">
                  <c:v>420</c:v>
                </c:pt>
                <c:pt idx="2">
                  <c:v>258</c:v>
                </c:pt>
                <c:pt idx="3">
                  <c:v>130</c:v>
                </c:pt>
                <c:pt idx="4">
                  <c:v>93</c:v>
                </c:pt>
                <c:pt idx="5">
                  <c:v>73</c:v>
                </c:pt>
                <c:pt idx="6">
                  <c:v>20</c:v>
                </c:pt>
                <c:pt idx="7">
                  <c:v>29.34</c:v>
                </c:pt>
                <c:pt idx="8">
                  <c:v>20</c:v>
                </c:pt>
                <c:pt idx="9">
                  <c:v>12</c:v>
                </c:pt>
              </c:numCache>
            </c:numRef>
          </c:xVal>
          <c:yVal>
            <c:numRef>
              <c:f>[рачсчет.xlsx]НХ!$J$44:$J$57</c:f>
              <c:numCache>
                <c:formatCode>General</c:formatCode>
                <c:ptCount val="14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76E-4008-88EE-BFC908C94046}"/>
            </c:ext>
          </c:extLst>
        </c:ser>
        <c:ser>
          <c:idx val="0"/>
          <c:order val="1"/>
          <c:tx>
            <c:v>12мультисим</c:v>
          </c:tx>
          <c:spPr>
            <a:ln w="19050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[рачсчет.xlsx]НХ!$H$44:$H$57</c:f>
              <c:numCache>
                <c:formatCode>0.00</c:formatCode>
                <c:ptCount val="14"/>
                <c:pt idx="0">
                  <c:v>1243</c:v>
                </c:pt>
                <c:pt idx="1">
                  <c:v>419</c:v>
                </c:pt>
                <c:pt idx="2">
                  <c:v>285</c:v>
                </c:pt>
                <c:pt idx="3">
                  <c:v>130</c:v>
                </c:pt>
                <c:pt idx="4">
                  <c:v>93</c:v>
                </c:pt>
                <c:pt idx="5">
                  <c:v>73</c:v>
                </c:pt>
                <c:pt idx="6">
                  <c:v>50</c:v>
                </c:pt>
                <c:pt idx="7">
                  <c:v>29.3</c:v>
                </c:pt>
                <c:pt idx="8">
                  <c:v>20</c:v>
                </c:pt>
                <c:pt idx="9">
                  <c:v>12.001680004384999</c:v>
                </c:pt>
              </c:numCache>
            </c:numRef>
          </c:xVal>
          <c:yVal>
            <c:numRef>
              <c:f>[рачсчет.xlsx]НХ!$G$44:$G$57</c:f>
              <c:numCache>
                <c:formatCode>0.00</c:formatCode>
                <c:ptCount val="14"/>
                <c:pt idx="0">
                  <c:v>12.05</c:v>
                </c:pt>
                <c:pt idx="1">
                  <c:v>12.06</c:v>
                </c:pt>
                <c:pt idx="2">
                  <c:v>12.02</c:v>
                </c:pt>
                <c:pt idx="3">
                  <c:v>12</c:v>
                </c:pt>
                <c:pt idx="4">
                  <c:v>11.95</c:v>
                </c:pt>
                <c:pt idx="5">
                  <c:v>12.01</c:v>
                </c:pt>
                <c:pt idx="6">
                  <c:v>12.01</c:v>
                </c:pt>
                <c:pt idx="7">
                  <c:v>12.03</c:v>
                </c:pt>
                <c:pt idx="8">
                  <c:v>12.06</c:v>
                </c:pt>
                <c:pt idx="9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76E-4008-88EE-BFC908C94046}"/>
            </c:ext>
          </c:extLst>
        </c:ser>
        <c:ser>
          <c:idx val="1"/>
          <c:order val="2"/>
          <c:tx>
            <c:v>12эксперимент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>
                <a:prstDash val="sysDash"/>
              </a:ln>
            </c:spPr>
            <c:trendlineType val="linear"/>
            <c:dispRSqr val="0"/>
            <c:dispEq val="0"/>
          </c:trendline>
          <c:xVal>
            <c:numRef>
              <c:f>[рачсчет.xlsx]НХ!$P$44:$P$57</c:f>
              <c:numCache>
                <c:formatCode>0.00</c:formatCode>
                <c:ptCount val="14"/>
                <c:pt idx="0">
                  <c:v>1356</c:v>
                </c:pt>
                <c:pt idx="1">
                  <c:v>456</c:v>
                </c:pt>
                <c:pt idx="2">
                  <c:v>264</c:v>
                </c:pt>
                <c:pt idx="3">
                  <c:v>184</c:v>
                </c:pt>
                <c:pt idx="4">
                  <c:v>136.78513818429619</c:v>
                </c:pt>
                <c:pt idx="5">
                  <c:v>104</c:v>
                </c:pt>
                <c:pt idx="6">
                  <c:v>64</c:v>
                </c:pt>
                <c:pt idx="7">
                  <c:v>41</c:v>
                </c:pt>
                <c:pt idx="8">
                  <c:v>34</c:v>
                </c:pt>
                <c:pt idx="9">
                  <c:v>22</c:v>
                </c:pt>
              </c:numCache>
            </c:numRef>
          </c:xVal>
          <c:yVal>
            <c:numRef>
              <c:f>[рачсчет.xlsx]НХ!$O$44:$O$57</c:f>
              <c:numCache>
                <c:formatCode>0.00</c:formatCode>
                <c:ptCount val="14"/>
                <c:pt idx="0">
                  <c:v>12.1</c:v>
                </c:pt>
                <c:pt idx="1">
                  <c:v>12.06</c:v>
                </c:pt>
                <c:pt idx="2">
                  <c:v>11.92</c:v>
                </c:pt>
                <c:pt idx="3">
                  <c:v>11.98</c:v>
                </c:pt>
                <c:pt idx="4">
                  <c:v>12.07</c:v>
                </c:pt>
                <c:pt idx="5">
                  <c:v>11.93</c:v>
                </c:pt>
                <c:pt idx="6">
                  <c:v>11.96</c:v>
                </c:pt>
                <c:pt idx="7">
                  <c:v>11.98</c:v>
                </c:pt>
                <c:pt idx="8">
                  <c:v>12.15</c:v>
                </c:pt>
                <c:pt idx="9">
                  <c:v>11.95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76E-4008-88EE-BFC908C940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2841696"/>
        <c:axId val="372835032"/>
      </c:scatterChart>
      <c:valAx>
        <c:axId val="372841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out"/>
        <c:tickLblPos val="nextTo"/>
        <c:spPr>
          <a:noFill/>
          <a:ln w="25400" cap="flat" cmpd="sng" algn="ctr">
            <a:solidFill>
              <a:schemeClr val="tx1"/>
            </a:solidFill>
            <a:round/>
            <a:tailEnd type="stealth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2835032"/>
        <c:crosses val="autoZero"/>
        <c:crossBetween val="midCat"/>
        <c:majorUnit val="200"/>
        <c:minorUnit val="100"/>
      </c:valAx>
      <c:valAx>
        <c:axId val="372835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out"/>
        <c:tickLblPos val="nextTo"/>
        <c:spPr>
          <a:noFill/>
          <a:ln w="25400" cap="flat" cmpd="sng" algn="ctr">
            <a:solidFill>
              <a:schemeClr val="tx1"/>
            </a:solidFill>
            <a:round/>
            <a:tailEnd type="stealth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2841696"/>
        <c:crosses val="autoZero"/>
        <c:crossBetween val="midCat"/>
        <c:majorUnit val="3.0000000000000006E-2"/>
        <c:minorUnit val="1.5000000000000003E-2"/>
      </c:valAx>
    </c:plotArea>
    <c:plotVisOnly val="1"/>
    <c:dispBlanksAs val="gap"/>
    <c:showDLblsOverMax val="0"/>
  </c:chart>
  <c:spPr>
    <a:ln>
      <a:solidFill>
        <a:schemeClr val="bg1"/>
      </a:solidFill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55888138368081"/>
          <c:y val="6.4096263668601494E-2"/>
          <c:w val="0.88405479165850565"/>
          <c:h val="0.80282255294004479"/>
        </c:manualLayout>
      </c:layout>
      <c:scatterChart>
        <c:scatterStyle val="smoothMarker"/>
        <c:varyColors val="0"/>
        <c:ser>
          <c:idx val="3"/>
          <c:order val="0"/>
          <c:tx>
            <c:v>12мм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>
                <a:solidFill>
                  <a:schemeClr val="tx1"/>
                </a:solidFill>
                <a:prstDash val="dash"/>
              </a:ln>
            </c:spPr>
            <c:trendlineType val="poly"/>
            <c:order val="6"/>
            <c:dispRSqr val="0"/>
            <c:dispEq val="0"/>
          </c:trendline>
          <c:xVal>
            <c:numRef>
              <c:f>[рачсчет.xlsx]НХ!$K$44:$K$57</c:f>
              <c:numCache>
                <c:formatCode>General</c:formatCode>
                <c:ptCount val="14"/>
                <c:pt idx="0">
                  <c:v>1243</c:v>
                </c:pt>
                <c:pt idx="1">
                  <c:v>420</c:v>
                </c:pt>
                <c:pt idx="2">
                  <c:v>258</c:v>
                </c:pt>
                <c:pt idx="3">
                  <c:v>130</c:v>
                </c:pt>
                <c:pt idx="4">
                  <c:v>93</c:v>
                </c:pt>
                <c:pt idx="5">
                  <c:v>73</c:v>
                </c:pt>
                <c:pt idx="6">
                  <c:v>20</c:v>
                </c:pt>
                <c:pt idx="7">
                  <c:v>29.34</c:v>
                </c:pt>
                <c:pt idx="8">
                  <c:v>20</c:v>
                </c:pt>
                <c:pt idx="9">
                  <c:v>12</c:v>
                </c:pt>
              </c:numCache>
            </c:numRef>
          </c:xVal>
          <c:yVal>
            <c:numRef>
              <c:f>[рачсчет.xlsx]НХ!$J$44:$J$57</c:f>
              <c:numCache>
                <c:formatCode>General</c:formatCode>
                <c:ptCount val="14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9D1-4C24-9C30-47377A0862DB}"/>
            </c:ext>
          </c:extLst>
        </c:ser>
        <c:ser>
          <c:idx val="0"/>
          <c:order val="1"/>
          <c:tx>
            <c:v>12мультисим</c:v>
          </c:tx>
          <c:spPr>
            <a:ln w="19050">
              <a:noFill/>
            </a:ln>
          </c:spPr>
          <c:marker>
            <c:symbol val="none"/>
          </c:marker>
          <c:trendline>
            <c:trendlineType val="linear"/>
            <c:dispRSqr val="0"/>
            <c:dispEq val="0"/>
          </c:trendline>
          <c:xVal>
            <c:numRef>
              <c:f>[рачсчет.xlsx]НХ!$H$44:$H$57</c:f>
              <c:numCache>
                <c:formatCode>0.00</c:formatCode>
                <c:ptCount val="14"/>
                <c:pt idx="0">
                  <c:v>1243</c:v>
                </c:pt>
                <c:pt idx="1">
                  <c:v>419</c:v>
                </c:pt>
                <c:pt idx="2">
                  <c:v>285</c:v>
                </c:pt>
                <c:pt idx="3">
                  <c:v>130</c:v>
                </c:pt>
                <c:pt idx="4">
                  <c:v>93</c:v>
                </c:pt>
                <c:pt idx="5">
                  <c:v>73</c:v>
                </c:pt>
                <c:pt idx="6">
                  <c:v>50</c:v>
                </c:pt>
                <c:pt idx="7">
                  <c:v>29.3</c:v>
                </c:pt>
                <c:pt idx="8">
                  <c:v>20</c:v>
                </c:pt>
                <c:pt idx="9">
                  <c:v>12.001680004384999</c:v>
                </c:pt>
              </c:numCache>
            </c:numRef>
          </c:xVal>
          <c:yVal>
            <c:numRef>
              <c:f>[рачсчет.xlsx]НХ!$G$44:$G$57</c:f>
              <c:numCache>
                <c:formatCode>0.00</c:formatCode>
                <c:ptCount val="14"/>
                <c:pt idx="0">
                  <c:v>12.05</c:v>
                </c:pt>
                <c:pt idx="1">
                  <c:v>12.06</c:v>
                </c:pt>
                <c:pt idx="2">
                  <c:v>12.02</c:v>
                </c:pt>
                <c:pt idx="3">
                  <c:v>12</c:v>
                </c:pt>
                <c:pt idx="4">
                  <c:v>11.95</c:v>
                </c:pt>
                <c:pt idx="5">
                  <c:v>12.01</c:v>
                </c:pt>
                <c:pt idx="6">
                  <c:v>12.01</c:v>
                </c:pt>
                <c:pt idx="7">
                  <c:v>12.03</c:v>
                </c:pt>
                <c:pt idx="8">
                  <c:v>12.06</c:v>
                </c:pt>
                <c:pt idx="9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9D1-4C24-9C30-47377A0862DB}"/>
            </c:ext>
          </c:extLst>
        </c:ser>
        <c:ser>
          <c:idx val="1"/>
          <c:order val="2"/>
          <c:tx>
            <c:v>12эксперимент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>
                <a:prstDash val="sysDash"/>
              </a:ln>
            </c:spPr>
            <c:trendlineType val="linear"/>
            <c:dispRSqr val="0"/>
            <c:dispEq val="0"/>
          </c:trendline>
          <c:xVal>
            <c:numRef>
              <c:f>[рачсчет.xlsx]НХ!$P$44:$P$57</c:f>
              <c:numCache>
                <c:formatCode>0.00</c:formatCode>
                <c:ptCount val="14"/>
                <c:pt idx="0">
                  <c:v>1356</c:v>
                </c:pt>
                <c:pt idx="1">
                  <c:v>456</c:v>
                </c:pt>
                <c:pt idx="2">
                  <c:v>264</c:v>
                </c:pt>
                <c:pt idx="3">
                  <c:v>184</c:v>
                </c:pt>
                <c:pt idx="4">
                  <c:v>136.78513818429619</c:v>
                </c:pt>
                <c:pt idx="5">
                  <c:v>104</c:v>
                </c:pt>
                <c:pt idx="6">
                  <c:v>64</c:v>
                </c:pt>
                <c:pt idx="7">
                  <c:v>41</c:v>
                </c:pt>
                <c:pt idx="8">
                  <c:v>34</c:v>
                </c:pt>
                <c:pt idx="9">
                  <c:v>22</c:v>
                </c:pt>
              </c:numCache>
            </c:numRef>
          </c:xVal>
          <c:yVal>
            <c:numRef>
              <c:f>[рачсчет.xlsx]НХ!$O$44:$O$57</c:f>
              <c:numCache>
                <c:formatCode>0.00</c:formatCode>
                <c:ptCount val="14"/>
                <c:pt idx="0">
                  <c:v>12.1</c:v>
                </c:pt>
                <c:pt idx="1">
                  <c:v>12.06</c:v>
                </c:pt>
                <c:pt idx="2">
                  <c:v>11.92</c:v>
                </c:pt>
                <c:pt idx="3">
                  <c:v>11.98</c:v>
                </c:pt>
                <c:pt idx="4">
                  <c:v>12.07</c:v>
                </c:pt>
                <c:pt idx="5">
                  <c:v>11.93</c:v>
                </c:pt>
                <c:pt idx="6">
                  <c:v>11.96</c:v>
                </c:pt>
                <c:pt idx="7">
                  <c:v>11.98</c:v>
                </c:pt>
                <c:pt idx="8">
                  <c:v>12.15</c:v>
                </c:pt>
                <c:pt idx="9">
                  <c:v>11.95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9D1-4C24-9C30-47377A0862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2841696"/>
        <c:axId val="372835032"/>
      </c:scatterChart>
      <c:valAx>
        <c:axId val="372841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out"/>
        <c:tickLblPos val="nextTo"/>
        <c:spPr>
          <a:noFill/>
          <a:ln w="25400" cap="flat" cmpd="sng" algn="ctr">
            <a:solidFill>
              <a:schemeClr val="tx1"/>
            </a:solidFill>
            <a:round/>
            <a:tailEnd type="stealth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2835032"/>
        <c:crosses val="autoZero"/>
        <c:crossBetween val="midCat"/>
        <c:majorUnit val="200"/>
        <c:minorUnit val="100"/>
      </c:valAx>
      <c:valAx>
        <c:axId val="372835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out"/>
        <c:tickLblPos val="nextTo"/>
        <c:spPr>
          <a:noFill/>
          <a:ln w="25400" cap="flat" cmpd="sng" algn="ctr">
            <a:solidFill>
              <a:schemeClr val="tx1"/>
            </a:solidFill>
            <a:round/>
            <a:tailEnd type="stealth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2841696"/>
        <c:crosses val="autoZero"/>
        <c:crossBetween val="midCat"/>
        <c:majorUnit val="3.0000000000000006E-2"/>
        <c:minorUnit val="1.5000000000000003E-2"/>
      </c:valAx>
    </c:plotArea>
    <c:plotVisOnly val="1"/>
    <c:dispBlanksAs val="gap"/>
    <c:showDLblsOverMax val="0"/>
  </c:chart>
  <c:spPr>
    <a:ln>
      <a:solidFill>
        <a:schemeClr val="bg1"/>
      </a:solidFill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994520400339974E-2"/>
          <c:y val="0.10859873078846922"/>
          <c:w val="0.88405479165850565"/>
          <c:h val="0.80282255294004479"/>
        </c:manualLayout>
      </c:layout>
      <c:scatterChart>
        <c:scatterStyle val="smoothMarker"/>
        <c:varyColors val="0"/>
        <c:ser>
          <c:idx val="3"/>
          <c:order val="0"/>
          <c:tx>
            <c:v>12мм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>
                <a:solidFill>
                  <a:schemeClr val="tx1"/>
                </a:solidFill>
                <a:prstDash val="dash"/>
              </a:ln>
            </c:spPr>
            <c:trendlineType val="poly"/>
            <c:order val="6"/>
            <c:dispRSqr val="0"/>
            <c:dispEq val="0"/>
          </c:trendline>
          <c:xVal>
            <c:numRef>
              <c:f>[рачсчет.xlsx]НХ!$K$65:$K$78</c:f>
              <c:numCache>
                <c:formatCode>0.00</c:formatCode>
                <c:ptCount val="14"/>
                <c:pt idx="0">
                  <c:v>1208</c:v>
                </c:pt>
                <c:pt idx="1">
                  <c:v>415</c:v>
                </c:pt>
                <c:pt idx="2">
                  <c:v>250</c:v>
                </c:pt>
                <c:pt idx="3">
                  <c:v>118</c:v>
                </c:pt>
                <c:pt idx="4">
                  <c:v>59</c:v>
                </c:pt>
                <c:pt idx="5">
                  <c:v>43</c:v>
                </c:pt>
                <c:pt idx="6">
                  <c:v>32</c:v>
                </c:pt>
                <c:pt idx="7">
                  <c:v>26</c:v>
                </c:pt>
                <c:pt idx="8">
                  <c:v>16.001758457118559</c:v>
                </c:pt>
                <c:pt idx="9">
                  <c:v>12.003003442979159</c:v>
                </c:pt>
              </c:numCache>
            </c:numRef>
          </c:xVal>
          <c:yVal>
            <c:numRef>
              <c:f>[рачсчет.xlsx]НХ!$J$65:$J$78</c:f>
              <c:numCache>
                <c:formatCode>General</c:formatCode>
                <c:ptCount val="14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12</c:v>
                </c:pt>
                <c:pt idx="4">
                  <c:v>12</c:v>
                </c:pt>
                <c:pt idx="5">
                  <c:v>12</c:v>
                </c:pt>
                <c:pt idx="6">
                  <c:v>12</c:v>
                </c:pt>
                <c:pt idx="7">
                  <c:v>12</c:v>
                </c:pt>
                <c:pt idx="8">
                  <c:v>12</c:v>
                </c:pt>
                <c:pt idx="9">
                  <c:v>12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77F-4F1D-99FF-14B95ACA4DA0}"/>
            </c:ext>
          </c:extLst>
        </c:ser>
        <c:ser>
          <c:idx val="0"/>
          <c:order val="1"/>
          <c:tx>
            <c:v>12мультисим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/>
            </c:spPr>
            <c:trendlineType val="linear"/>
            <c:dispRSqr val="0"/>
            <c:dispEq val="0"/>
          </c:trendline>
          <c:xVal>
            <c:numRef>
              <c:f>[рачсчет.xlsx]НХ!$H$65:$H$78</c:f>
              <c:numCache>
                <c:formatCode>0.00</c:formatCode>
                <c:ptCount val="14"/>
                <c:pt idx="0">
                  <c:v>1208</c:v>
                </c:pt>
                <c:pt idx="1">
                  <c:v>415</c:v>
                </c:pt>
                <c:pt idx="2">
                  <c:v>250</c:v>
                </c:pt>
                <c:pt idx="3">
                  <c:v>118</c:v>
                </c:pt>
                <c:pt idx="4">
                  <c:v>59</c:v>
                </c:pt>
                <c:pt idx="5">
                  <c:v>43</c:v>
                </c:pt>
                <c:pt idx="6">
                  <c:v>32</c:v>
                </c:pt>
                <c:pt idx="7">
                  <c:v>26</c:v>
                </c:pt>
                <c:pt idx="8">
                  <c:v>16.001758457118559</c:v>
                </c:pt>
                <c:pt idx="9">
                  <c:v>12.003003442979159</c:v>
                </c:pt>
              </c:numCache>
            </c:numRef>
          </c:xVal>
          <c:yVal>
            <c:numRef>
              <c:f>[рачсчет.xlsx]НХ!$G$65:$G$78</c:f>
              <c:numCache>
                <c:formatCode>0.00</c:formatCode>
                <c:ptCount val="14"/>
                <c:pt idx="0">
                  <c:v>12.02</c:v>
                </c:pt>
                <c:pt idx="1">
                  <c:v>12.01</c:v>
                </c:pt>
                <c:pt idx="2">
                  <c:v>12</c:v>
                </c:pt>
                <c:pt idx="3">
                  <c:v>11.99</c:v>
                </c:pt>
                <c:pt idx="4">
                  <c:v>12.05</c:v>
                </c:pt>
                <c:pt idx="5">
                  <c:v>12.03</c:v>
                </c:pt>
                <c:pt idx="6">
                  <c:v>12.03</c:v>
                </c:pt>
                <c:pt idx="7">
                  <c:v>12.05</c:v>
                </c:pt>
                <c:pt idx="8">
                  <c:v>12.06</c:v>
                </c:pt>
                <c:pt idx="9">
                  <c:v>12.06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77F-4F1D-99FF-14B95ACA4DA0}"/>
            </c:ext>
          </c:extLst>
        </c:ser>
        <c:ser>
          <c:idx val="1"/>
          <c:order val="2"/>
          <c:tx>
            <c:v>12эксперимент</c:v>
          </c:tx>
          <c:spPr>
            <a:ln w="19050">
              <a:noFill/>
            </a:ln>
          </c:spPr>
          <c:marker>
            <c:symbol val="none"/>
          </c:marker>
          <c:trendline>
            <c:spPr>
              <a:ln w="15875">
                <a:prstDash val="sysDash"/>
              </a:ln>
            </c:spPr>
            <c:trendlineType val="linear"/>
            <c:dispRSqr val="0"/>
            <c:dispEq val="0"/>
          </c:trendline>
          <c:xVal>
            <c:numRef>
              <c:f>[рачсчет.xlsx]НХ!$E$65:$E$78</c:f>
              <c:numCache>
                <c:formatCode>0.00</c:formatCode>
                <c:ptCount val="14"/>
                <c:pt idx="0">
                  <c:v>1351</c:v>
                </c:pt>
                <c:pt idx="1">
                  <c:v>564</c:v>
                </c:pt>
                <c:pt idx="2">
                  <c:v>324</c:v>
                </c:pt>
                <c:pt idx="3">
                  <c:v>173</c:v>
                </c:pt>
                <c:pt idx="4">
                  <c:v>98</c:v>
                </c:pt>
                <c:pt idx="5">
                  <c:v>64</c:v>
                </c:pt>
                <c:pt idx="6">
                  <c:v>46</c:v>
                </c:pt>
                <c:pt idx="7">
                  <c:v>32</c:v>
                </c:pt>
                <c:pt idx="8">
                  <c:v>19</c:v>
                </c:pt>
                <c:pt idx="9">
                  <c:v>15</c:v>
                </c:pt>
              </c:numCache>
            </c:numRef>
          </c:xVal>
          <c:yVal>
            <c:numRef>
              <c:f>[рачсчет.xlsx]НХ!$D$65:$D$78</c:f>
              <c:numCache>
                <c:formatCode>0.00</c:formatCode>
                <c:ptCount val="14"/>
                <c:pt idx="0">
                  <c:v>12.12</c:v>
                </c:pt>
                <c:pt idx="1">
                  <c:v>12.07</c:v>
                </c:pt>
                <c:pt idx="2">
                  <c:v>11.97</c:v>
                </c:pt>
                <c:pt idx="3">
                  <c:v>11.91</c:v>
                </c:pt>
                <c:pt idx="4">
                  <c:v>11.93</c:v>
                </c:pt>
                <c:pt idx="5">
                  <c:v>12.1</c:v>
                </c:pt>
                <c:pt idx="6">
                  <c:v>11.95</c:v>
                </c:pt>
                <c:pt idx="7">
                  <c:v>12.05</c:v>
                </c:pt>
                <c:pt idx="8">
                  <c:v>12.12</c:v>
                </c:pt>
                <c:pt idx="9">
                  <c:v>11.9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B77F-4F1D-99FF-14B95ACA4D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4165392"/>
        <c:axId val="374165784"/>
      </c:scatterChart>
      <c:valAx>
        <c:axId val="3741653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out"/>
        <c:minorTickMark val="out"/>
        <c:tickLblPos val="nextTo"/>
        <c:spPr>
          <a:noFill/>
          <a:ln w="25400" cap="flat" cmpd="sng" algn="ctr">
            <a:solidFill>
              <a:schemeClr val="tx1"/>
            </a:solidFill>
            <a:round/>
            <a:tailEnd type="stealth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4165784"/>
        <c:crosses val="autoZero"/>
        <c:crossBetween val="midCat"/>
        <c:majorUnit val="200"/>
        <c:minorUnit val="100"/>
      </c:valAx>
      <c:valAx>
        <c:axId val="374165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0"/>
        <c:majorTickMark val="out"/>
        <c:minorTickMark val="out"/>
        <c:tickLblPos val="nextTo"/>
        <c:spPr>
          <a:noFill/>
          <a:ln w="25400" cap="flat" cmpd="sng" algn="ctr">
            <a:solidFill>
              <a:schemeClr val="tx1"/>
            </a:solidFill>
            <a:round/>
            <a:tailEnd type="stealth" w="med" len="lg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ru-RU"/>
          </a:p>
        </c:txPr>
        <c:crossAx val="374165392"/>
        <c:crosses val="autoZero"/>
        <c:crossBetween val="midCat"/>
        <c:majorUnit val="3.0000000000000006E-2"/>
        <c:minorUnit val="1.5000000000000003E-2"/>
      </c:valAx>
    </c:plotArea>
    <c:plotVisOnly val="1"/>
    <c:dispBlanksAs val="gap"/>
    <c:showDLblsOverMax val="0"/>
  </c:chart>
  <c:spPr>
    <a:ln>
      <a:solidFill>
        <a:schemeClr val="bg1"/>
      </a:solidFill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3.png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0.68892</cdr:x>
      <cdr:y>0.26039</cdr:y>
    </cdr:from>
    <cdr:to>
      <cdr:x>0.72722</cdr:x>
      <cdr:y>0.37944</cdr:y>
    </cdr:to>
    <cdr:cxnSp macro="">
      <cdr:nvCxnSpPr>
        <cdr:cNvPr id="6" name="Прямая соединительная линия 5">
          <a:extLst xmlns:a="http://schemas.openxmlformats.org/drawingml/2006/main">
            <a:ext uri="{FF2B5EF4-FFF2-40B4-BE49-F238E27FC236}">
              <a16:creationId xmlns:a16="http://schemas.microsoft.com/office/drawing/2014/main" id="{B82439E0-A93A-42B1-BB81-77A4AF26B22E}"/>
            </a:ext>
          </a:extLst>
        </cdr:cNvPr>
        <cdr:cNvCxnSpPr/>
      </cdr:nvCxnSpPr>
      <cdr:spPr>
        <a:xfrm xmlns:a="http://schemas.openxmlformats.org/drawingml/2006/main" flipV="1">
          <a:off x="3938465" y="851646"/>
          <a:ext cx="218916" cy="38939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0.58413</cdr:x>
      <cdr:y>0.57148</cdr:y>
    </cdr:from>
    <cdr:to>
      <cdr:x>0.7278</cdr:x>
      <cdr:y>0.73662</cdr:y>
    </cdr:to>
    <cdr:cxnSp macro="">
      <cdr:nvCxnSpPr>
        <cdr:cNvPr id="10" name="Прямая соединительная линия 9">
          <a:extLst xmlns:a="http://schemas.openxmlformats.org/drawingml/2006/main">
            <a:ext uri="{FF2B5EF4-FFF2-40B4-BE49-F238E27FC236}">
              <a16:creationId xmlns:a16="http://schemas.microsoft.com/office/drawing/2014/main" id="{ADA5F298-ABA5-41CA-9225-08D09E25C928}"/>
            </a:ext>
          </a:extLst>
        </cdr:cNvPr>
        <cdr:cNvCxnSpPr/>
      </cdr:nvCxnSpPr>
      <cdr:spPr>
        <a:xfrm xmlns:a="http://schemas.openxmlformats.org/drawingml/2006/main" flipH="1">
          <a:off x="3339352" y="1869143"/>
          <a:ext cx="821351" cy="54012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6350" cap="flat" cmpd="sng" algn="ctr">
          <a:solidFill>
            <a:sysClr val="windowText" lastClr="000000"/>
          </a:solidFill>
          <a:prstDash val="solid"/>
          <a:miter lim="800000"/>
        </a:ln>
        <a:effectLst xmlns:a="http://schemas.openxmlformats.org/drawingml/2006/main"/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0.61672</cdr:x>
      <cdr:y>0.13926</cdr:y>
    </cdr:from>
    <cdr:to>
      <cdr:x>0.88239</cdr:x>
      <cdr:y>0.23375</cdr:y>
    </cdr:to>
    <cdr:sp macro="" textlink="">
      <cdr:nvSpPr>
        <cdr:cNvPr id="8" name="Надпись 13"/>
        <cdr:cNvSpPr txBox="1"/>
      </cdr:nvSpPr>
      <cdr:spPr>
        <a:xfrm xmlns:a="http://schemas.openxmlformats.org/drawingml/2006/main">
          <a:off x="3525706" y="455463"/>
          <a:ext cx="1518793" cy="3090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Эксперимент</a:t>
          </a:r>
          <a:endParaRPr lang="ru-RU" sz="1400" baseline="-2500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0.49592</cdr:x>
      <cdr:y>0.29807</cdr:y>
    </cdr:from>
    <cdr:to>
      <cdr:x>0.57362</cdr:x>
      <cdr:y>0.47213</cdr:y>
    </cdr:to>
    <cdr:cxnSp macro="">
      <cdr:nvCxnSpPr>
        <cdr:cNvPr id="11" name="Прямая соединительная линия 10">
          <a:extLst xmlns:a="http://schemas.openxmlformats.org/drawingml/2006/main">
            <a:ext uri="{FF2B5EF4-FFF2-40B4-BE49-F238E27FC236}">
              <a16:creationId xmlns:a16="http://schemas.microsoft.com/office/drawing/2014/main" id="{5B62C552-BF8D-4CAB-BE0F-81AA04FD4DD8}"/>
            </a:ext>
          </a:extLst>
        </cdr:cNvPr>
        <cdr:cNvCxnSpPr/>
      </cdr:nvCxnSpPr>
      <cdr:spPr>
        <a:xfrm xmlns:a="http://schemas.openxmlformats.org/drawingml/2006/main" flipH="1" flipV="1">
          <a:off x="2835087" y="974911"/>
          <a:ext cx="444208" cy="569265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6350" cap="flat" cmpd="sng" algn="ctr">
          <a:solidFill>
            <a:sysClr val="windowText" lastClr="000000"/>
          </a:solidFill>
          <a:prstDash val="solid"/>
          <a:miter lim="800000"/>
        </a:ln>
        <a:effectLst xmlns:a="http://schemas.openxmlformats.org/drawingml/2006/main"/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0.30622</cdr:x>
      <cdr:y>0.14435</cdr:y>
    </cdr:from>
    <cdr:to>
      <cdr:x>0.60508</cdr:x>
      <cdr:y>0.23884</cdr:y>
    </cdr:to>
    <cdr:sp macro="" textlink="">
      <cdr:nvSpPr>
        <cdr:cNvPr id="13" name="Надпись 13"/>
        <cdr:cNvSpPr txBox="1"/>
      </cdr:nvSpPr>
      <cdr:spPr>
        <a:xfrm xmlns:a="http://schemas.openxmlformats.org/drawingml/2006/main">
          <a:off x="1750610" y="472127"/>
          <a:ext cx="1708535" cy="3090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</a:t>
          </a: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оделирование</a:t>
          </a:r>
          <a:endParaRPr lang="ru-RU" sz="1400" baseline="-2500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0.44045</cdr:x>
      <cdr:y>0.60757</cdr:y>
    </cdr:from>
    <cdr:to>
      <cdr:x>0.7393</cdr:x>
      <cdr:y>0.70206</cdr:y>
    </cdr:to>
    <cdr:sp macro="" textlink="">
      <cdr:nvSpPr>
        <cdr:cNvPr id="16" name="Надпись 13"/>
        <cdr:cNvSpPr txBox="1"/>
      </cdr:nvSpPr>
      <cdr:spPr>
        <a:xfrm xmlns:a="http://schemas.openxmlformats.org/drawingml/2006/main">
          <a:off x="2517981" y="1987167"/>
          <a:ext cx="1708478" cy="3090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endParaRPr lang="en-US" sz="1400" baseline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</a:t>
          </a: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ат. модель</a:t>
          </a:r>
          <a:endParaRPr lang="ru-RU" sz="1400" baseline="-2500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0.04508</cdr:x>
      <cdr:y>0</cdr:y>
    </cdr:from>
    <cdr:to>
      <cdr:x>0.17506</cdr:x>
      <cdr:y>0.08738</cdr:y>
    </cdr:to>
    <cdr:pic>
      <cdr:nvPicPr>
        <cdr:cNvPr id="5" name="chart">
          <a:extLst xmlns:a="http://schemas.openxmlformats.org/drawingml/2006/main">
            <a:ext uri="{FF2B5EF4-FFF2-40B4-BE49-F238E27FC236}">
              <a16:creationId xmlns:a16="http://schemas.microsoft.com/office/drawing/2014/main" id="{08A8A21A-C982-4F43-A7DC-BA6C874C17E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57735" y="0"/>
          <a:ext cx="743054" cy="285790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0.68892</cdr:x>
      <cdr:y>0.26039</cdr:y>
    </cdr:from>
    <cdr:to>
      <cdr:x>0.72722</cdr:x>
      <cdr:y>0.37944</cdr:y>
    </cdr:to>
    <cdr:cxnSp macro="">
      <cdr:nvCxnSpPr>
        <cdr:cNvPr id="6" name="Прямая соединительная линия 5">
          <a:extLst xmlns:a="http://schemas.openxmlformats.org/drawingml/2006/main">
            <a:ext uri="{FF2B5EF4-FFF2-40B4-BE49-F238E27FC236}">
              <a16:creationId xmlns:a16="http://schemas.microsoft.com/office/drawing/2014/main" id="{B82439E0-A93A-42B1-BB81-77A4AF26B22E}"/>
            </a:ext>
          </a:extLst>
        </cdr:cNvPr>
        <cdr:cNvCxnSpPr/>
      </cdr:nvCxnSpPr>
      <cdr:spPr>
        <a:xfrm xmlns:a="http://schemas.openxmlformats.org/drawingml/2006/main" flipV="1">
          <a:off x="3938465" y="851646"/>
          <a:ext cx="218916" cy="38939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0.58413</cdr:x>
      <cdr:y>0.57148</cdr:y>
    </cdr:from>
    <cdr:to>
      <cdr:x>0.7278</cdr:x>
      <cdr:y>0.73662</cdr:y>
    </cdr:to>
    <cdr:cxnSp macro="">
      <cdr:nvCxnSpPr>
        <cdr:cNvPr id="10" name="Прямая соединительная линия 9">
          <a:extLst xmlns:a="http://schemas.openxmlformats.org/drawingml/2006/main">
            <a:ext uri="{FF2B5EF4-FFF2-40B4-BE49-F238E27FC236}">
              <a16:creationId xmlns:a16="http://schemas.microsoft.com/office/drawing/2014/main" id="{ADA5F298-ABA5-41CA-9225-08D09E25C928}"/>
            </a:ext>
          </a:extLst>
        </cdr:cNvPr>
        <cdr:cNvCxnSpPr/>
      </cdr:nvCxnSpPr>
      <cdr:spPr>
        <a:xfrm xmlns:a="http://schemas.openxmlformats.org/drawingml/2006/main" flipH="1">
          <a:off x="3339352" y="1869143"/>
          <a:ext cx="821351" cy="540120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6350" cap="flat" cmpd="sng" algn="ctr">
          <a:solidFill>
            <a:sysClr val="windowText" lastClr="000000"/>
          </a:solidFill>
          <a:prstDash val="solid"/>
          <a:miter lim="800000"/>
        </a:ln>
        <a:effectLst xmlns:a="http://schemas.openxmlformats.org/drawingml/2006/main"/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0.61672</cdr:x>
      <cdr:y>0.13926</cdr:y>
    </cdr:from>
    <cdr:to>
      <cdr:x>0.88239</cdr:x>
      <cdr:y>0.23375</cdr:y>
    </cdr:to>
    <cdr:sp macro="" textlink="">
      <cdr:nvSpPr>
        <cdr:cNvPr id="8" name="Надпись 13"/>
        <cdr:cNvSpPr txBox="1"/>
      </cdr:nvSpPr>
      <cdr:spPr>
        <a:xfrm xmlns:a="http://schemas.openxmlformats.org/drawingml/2006/main">
          <a:off x="3525706" y="455463"/>
          <a:ext cx="1518793" cy="30904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Эксперимент</a:t>
          </a:r>
          <a:endParaRPr lang="ru-RU" sz="1400" baseline="-2500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0.49592</cdr:x>
      <cdr:y>0.29807</cdr:y>
    </cdr:from>
    <cdr:to>
      <cdr:x>0.57362</cdr:x>
      <cdr:y>0.47213</cdr:y>
    </cdr:to>
    <cdr:cxnSp macro="">
      <cdr:nvCxnSpPr>
        <cdr:cNvPr id="11" name="Прямая соединительная линия 10">
          <a:extLst xmlns:a="http://schemas.openxmlformats.org/drawingml/2006/main">
            <a:ext uri="{FF2B5EF4-FFF2-40B4-BE49-F238E27FC236}">
              <a16:creationId xmlns:a16="http://schemas.microsoft.com/office/drawing/2014/main" id="{5B62C552-BF8D-4CAB-BE0F-81AA04FD4DD8}"/>
            </a:ext>
          </a:extLst>
        </cdr:cNvPr>
        <cdr:cNvCxnSpPr/>
      </cdr:nvCxnSpPr>
      <cdr:spPr>
        <a:xfrm xmlns:a="http://schemas.openxmlformats.org/drawingml/2006/main" flipH="1" flipV="1">
          <a:off x="2835087" y="974911"/>
          <a:ext cx="444208" cy="569265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6350" cap="flat" cmpd="sng" algn="ctr">
          <a:solidFill>
            <a:sysClr val="windowText" lastClr="000000"/>
          </a:solidFill>
          <a:prstDash val="solid"/>
          <a:miter lim="800000"/>
        </a:ln>
        <a:effectLst xmlns:a="http://schemas.openxmlformats.org/drawingml/2006/main"/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0.29142</cdr:x>
      <cdr:y>0.029</cdr:y>
    </cdr:from>
    <cdr:to>
      <cdr:x>0.59028</cdr:x>
      <cdr:y>0.12349</cdr:y>
    </cdr:to>
    <cdr:sp macro="" textlink="">
      <cdr:nvSpPr>
        <cdr:cNvPr id="13" name="Надпись 13"/>
        <cdr:cNvSpPr txBox="1"/>
      </cdr:nvSpPr>
      <cdr:spPr>
        <a:xfrm xmlns:a="http://schemas.openxmlformats.org/drawingml/2006/main">
          <a:off x="1383446" y="60657"/>
          <a:ext cx="1418755" cy="19765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</a:t>
          </a:r>
          <a:r>
            <a:rPr lang="ru-RU" sz="1400" baseline="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оделирование</a:t>
          </a:r>
          <a:endParaRPr lang="ru-RU" sz="1400" baseline="-250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0.44301</cdr:x>
      <cdr:y>0.53472</cdr:y>
    </cdr:from>
    <cdr:to>
      <cdr:x>0.74186</cdr:x>
      <cdr:y>0.62921</cdr:y>
    </cdr:to>
    <cdr:sp macro="" textlink="">
      <cdr:nvSpPr>
        <cdr:cNvPr id="16" name="Надпись 13"/>
        <cdr:cNvSpPr txBox="1"/>
      </cdr:nvSpPr>
      <cdr:spPr>
        <a:xfrm xmlns:a="http://schemas.openxmlformats.org/drawingml/2006/main">
          <a:off x="2103063" y="1118538"/>
          <a:ext cx="1418707" cy="19765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endParaRPr lang="en-US" sz="1400" baseline="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 </a:t>
          </a:r>
          <a:r>
            <a:rPr lang="en-US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</a:t>
          </a:r>
          <a:r>
            <a:rPr lang="ru-RU" sz="1400" baseline="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ат</a:t>
          </a:r>
          <a:r>
            <a:rPr lang="ru-RU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. модель</a:t>
          </a:r>
          <a:endParaRPr lang="ru-RU" sz="1400" baseline="-250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0.04508</cdr:x>
      <cdr:y>0</cdr:y>
    </cdr:from>
    <cdr:to>
      <cdr:x>0.17506</cdr:x>
      <cdr:y>0.08738</cdr:y>
    </cdr:to>
    <cdr:pic>
      <cdr:nvPicPr>
        <cdr:cNvPr id="5" name="chart">
          <a:extLst xmlns:a="http://schemas.openxmlformats.org/drawingml/2006/main">
            <a:ext uri="{FF2B5EF4-FFF2-40B4-BE49-F238E27FC236}">
              <a16:creationId xmlns:a16="http://schemas.microsoft.com/office/drawing/2014/main" id="{08A8A21A-C982-4F43-A7DC-BA6C874C17E7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57735" y="0"/>
          <a:ext cx="743054" cy="285790"/>
        </a:xfrm>
        <a:prstGeom xmlns:a="http://schemas.openxmlformats.org/drawingml/2006/main" prst="rect">
          <a:avLst/>
        </a:prstGeom>
      </cdr:spPr>
    </cdr:pic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0.45575</cdr:x>
      <cdr:y>0.54322</cdr:y>
    </cdr:from>
    <cdr:to>
      <cdr:x>0.49691</cdr:x>
      <cdr:y>0.65971</cdr:y>
    </cdr:to>
    <cdr:cxnSp macro="">
      <cdr:nvCxnSpPr>
        <cdr:cNvPr id="6" name="Прямая соединительная линия 5">
          <a:extLst xmlns:a="http://schemas.openxmlformats.org/drawingml/2006/main">
            <a:ext uri="{FF2B5EF4-FFF2-40B4-BE49-F238E27FC236}">
              <a16:creationId xmlns:a16="http://schemas.microsoft.com/office/drawing/2014/main" id="{C439C32B-4A10-4247-B893-DE47611D1B65}"/>
            </a:ext>
          </a:extLst>
        </cdr:cNvPr>
        <cdr:cNvCxnSpPr/>
      </cdr:nvCxnSpPr>
      <cdr:spPr>
        <a:xfrm xmlns:a="http://schemas.openxmlformats.org/drawingml/2006/main" flipH="1" flipV="1">
          <a:off x="2623827" y="1776712"/>
          <a:ext cx="236971" cy="380981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0.59866</cdr:x>
      <cdr:y>0.18144</cdr:y>
    </cdr:from>
    <cdr:to>
      <cdr:x>0.62109</cdr:x>
      <cdr:y>0.26024</cdr:y>
    </cdr:to>
    <cdr:cxnSp macro="">
      <cdr:nvCxnSpPr>
        <cdr:cNvPr id="10" name="Прямая соединительная линия 9">
          <a:extLst xmlns:a="http://schemas.openxmlformats.org/drawingml/2006/main">
            <a:ext uri="{FF2B5EF4-FFF2-40B4-BE49-F238E27FC236}">
              <a16:creationId xmlns:a16="http://schemas.microsoft.com/office/drawing/2014/main" id="{53861AFB-BEB6-4BD1-9EDD-55EE50AADC5F}"/>
            </a:ext>
          </a:extLst>
        </cdr:cNvPr>
        <cdr:cNvCxnSpPr/>
      </cdr:nvCxnSpPr>
      <cdr:spPr>
        <a:xfrm xmlns:a="http://schemas.openxmlformats.org/drawingml/2006/main" flipH="1" flipV="1">
          <a:off x="2837487" y="404745"/>
          <a:ext cx="106313" cy="175781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6350" cap="flat" cmpd="sng" algn="ctr">
          <a:solidFill>
            <a:sysClr val="windowText" lastClr="000000"/>
          </a:solidFill>
          <a:prstDash val="solid"/>
          <a:miter lim="800000"/>
        </a:ln>
        <a:effectLst xmlns:a="http://schemas.openxmlformats.org/drawingml/2006/main"/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0.44318</cdr:x>
      <cdr:y>0.04811</cdr:y>
    </cdr:from>
    <cdr:to>
      <cdr:x>0.70885</cdr:x>
      <cdr:y>0.1426</cdr:y>
    </cdr:to>
    <cdr:sp macro="" textlink="">
      <cdr:nvSpPr>
        <cdr:cNvPr id="8" name="Надпись 13"/>
        <cdr:cNvSpPr txBox="1"/>
      </cdr:nvSpPr>
      <cdr:spPr>
        <a:xfrm xmlns:a="http://schemas.openxmlformats.org/drawingml/2006/main">
          <a:off x="2100547" y="107325"/>
          <a:ext cx="1259214" cy="21078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ru-RU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Эксперимент</a:t>
          </a:r>
          <a:endParaRPr lang="ru-RU" sz="1400" baseline="-250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0.73702</cdr:x>
      <cdr:y>0.41645</cdr:y>
    </cdr:from>
    <cdr:to>
      <cdr:x>0.81234</cdr:x>
      <cdr:y>0.5105</cdr:y>
    </cdr:to>
    <cdr:cxnSp macro="">
      <cdr:nvCxnSpPr>
        <cdr:cNvPr id="11" name="Прямая соединительная линия 10">
          <a:extLst xmlns:a="http://schemas.openxmlformats.org/drawingml/2006/main">
            <a:ext uri="{FF2B5EF4-FFF2-40B4-BE49-F238E27FC236}">
              <a16:creationId xmlns:a16="http://schemas.microsoft.com/office/drawing/2014/main" id="{E5569FA4-97AF-4337-B414-F973C974AB26}"/>
            </a:ext>
          </a:extLst>
        </cdr:cNvPr>
        <cdr:cNvCxnSpPr/>
      </cdr:nvCxnSpPr>
      <cdr:spPr>
        <a:xfrm xmlns:a="http://schemas.openxmlformats.org/drawingml/2006/main" flipV="1">
          <a:off x="4213412" y="1362081"/>
          <a:ext cx="430607" cy="307595"/>
        </a:xfrm>
        <a:prstGeom xmlns:a="http://schemas.openxmlformats.org/drawingml/2006/main" prst="line">
          <a:avLst/>
        </a:prstGeom>
        <a:noFill xmlns:a="http://schemas.openxmlformats.org/drawingml/2006/main"/>
        <a:ln xmlns:a="http://schemas.openxmlformats.org/drawingml/2006/main" w="6350" cap="flat" cmpd="sng" algn="ctr">
          <a:solidFill>
            <a:sysClr val="windowText" lastClr="000000"/>
          </a:solidFill>
          <a:prstDash val="solid"/>
          <a:miter lim="800000"/>
        </a:ln>
        <a:effectLst xmlns:a="http://schemas.openxmlformats.org/drawingml/2006/main"/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0.69338</cdr:x>
      <cdr:y>0.31977</cdr:y>
    </cdr:from>
    <cdr:to>
      <cdr:x>1</cdr:x>
      <cdr:y>0.41426</cdr:y>
    </cdr:to>
    <cdr:sp macro="" textlink="">
      <cdr:nvSpPr>
        <cdr:cNvPr id="13" name="Надпись 13"/>
        <cdr:cNvSpPr txBox="1"/>
      </cdr:nvSpPr>
      <cdr:spPr>
        <a:xfrm xmlns:a="http://schemas.openxmlformats.org/drawingml/2006/main">
          <a:off x="3220416" y="713318"/>
          <a:ext cx="1424102" cy="21078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en-US" sz="1400" baseline="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</a:t>
          </a:r>
          <a:r>
            <a:rPr lang="ru-RU" sz="1400" baseline="0" dirty="0" err="1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оделирование</a:t>
          </a:r>
          <a:endParaRPr lang="ru-RU" sz="1400" baseline="-25000" dirty="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0.41882</cdr:x>
      <cdr:y>0.65605</cdr:y>
    </cdr:from>
    <cdr:to>
      <cdr:x>0.71766</cdr:x>
      <cdr:y>0.75054</cdr:y>
    </cdr:to>
    <cdr:sp macro="" textlink="">
      <cdr:nvSpPr>
        <cdr:cNvPr id="16" name="Надпись 13"/>
        <cdr:cNvSpPr txBox="1"/>
      </cdr:nvSpPr>
      <cdr:spPr>
        <a:xfrm xmlns:a="http://schemas.openxmlformats.org/drawingml/2006/main">
          <a:off x="2411195" y="2145744"/>
          <a:ext cx="1720533" cy="30904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ffectLst xmlns:a="http://schemas.openxmlformats.org/drawingml/2006/main"/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rot="0" spcFirstLastPara="0" vert="horz" wrap="square" lIns="91440" tIns="45720" rIns="91440" bIns="45720" numCol="1" spcCol="0" rtlCol="0" fromWordArt="0" anchor="t" anchorCtr="0" forceAA="0" compatLnSpc="1">
          <a:prstTxWarp prst="textNoShape">
            <a:avLst/>
          </a:prstTxWarp>
          <a:noAutofit/>
        </a:bodyPr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>
            <a:lnSpc>
              <a:spcPct val="120000"/>
            </a:lnSpc>
            <a:spcBef>
              <a:spcPts val="600"/>
            </a:spcBef>
            <a:spcAft>
              <a:spcPts val="0"/>
            </a:spcAft>
          </a:pPr>
          <a:r>
            <a:rPr lang="en-US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M</a:t>
          </a:r>
          <a:r>
            <a:rPr lang="ru-RU" sz="1400" baseline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rPr>
            <a:t>ат. модель</a:t>
          </a:r>
          <a:endParaRPr lang="ru-RU" sz="1400" baseline="-25000">
            <a:effectLst/>
            <a:latin typeface="Times New Roman" panose="02020603050405020304" pitchFamily="18" charset="0"/>
            <a:ea typeface="Calibri" panose="020F0502020204030204" pitchFamily="34" charset="0"/>
            <a:cs typeface="Times New Roman" panose="02020603050405020304" pitchFamily="18" charset="0"/>
          </a:endParaRPr>
        </a:p>
      </cdr:txBody>
    </cdr:sp>
  </cdr:relSizeAnchor>
  <cdr:relSizeAnchor xmlns:cdr="http://schemas.openxmlformats.org/drawingml/2006/chartDrawing">
    <cdr:from>
      <cdr:x>0.08429</cdr:x>
      <cdr:y>0.0137</cdr:y>
    </cdr:from>
    <cdr:to>
      <cdr:x>0.21426</cdr:x>
      <cdr:y>0.10108</cdr:y>
    </cdr:to>
    <cdr:pic>
      <cdr:nvPicPr>
        <cdr:cNvPr id="7" name="chart">
          <a:extLst xmlns:a="http://schemas.openxmlformats.org/drawingml/2006/main">
            <a:ext uri="{FF2B5EF4-FFF2-40B4-BE49-F238E27FC236}">
              <a16:creationId xmlns:a16="http://schemas.microsoft.com/office/drawing/2014/main" id="{9B8EAC55-43ED-4056-AAB3-3636E4E19A80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81853" y="44824"/>
          <a:ext cx="743054" cy="285790"/>
        </a:xfrm>
        <a:prstGeom xmlns:a="http://schemas.openxmlformats.org/drawingml/2006/main" prst="rect">
          <a:avLst/>
        </a:prstGeom>
      </cdr:spPr>
    </cdr:pic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7ABCC-CF3C-4532-9ACD-4FD4F6964F21}" type="datetimeFigureOut">
              <a:rPr lang="ru-RU" smtClean="0">
                <a:latin typeface="Arial" panose="020B0604020202020204" pitchFamily="34" charset="0"/>
              </a:rPr>
              <a:t>26.05.2026</a:t>
            </a:fld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B385E-F5AC-4220-88E8-D359F0C98E96}" type="slidenum">
              <a:rPr lang="ru-RU" smtClean="0">
                <a:latin typeface="Arial" panose="020B0604020202020204" pitchFamily="34" charset="0"/>
              </a:rPr>
              <a:t>‹#›</a:t>
            </a:fld>
            <a:endParaRPr 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FBE26D7A-F5EB-4C23-8032-E31C77D84C5A}" type="datetimeFigureOut">
              <a:rPr lang="ru-RU" smtClean="0"/>
              <a:t>26.05.2026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23B3B5DC-1A24-4803-AA36-26180B22D0F9}" type="slidenum">
              <a:rPr lang="ru-RU" smtClean="0"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7.bin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3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5.xml"/><Relationship Id="rId7" Type="http://schemas.openxmlformats.org/officeDocument/2006/relationships/oleObject" Target="../embeddings/oleObject9.bin"/><Relationship Id="rId2" Type="http://schemas.openxmlformats.org/officeDocument/2006/relationships/tags" Target="../tags/tag1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17.xml"/><Relationship Id="rId7" Type="http://schemas.openxmlformats.org/officeDocument/2006/relationships/image" Target="../media/image5.png"/><Relationship Id="rId2" Type="http://schemas.openxmlformats.org/officeDocument/2006/relationships/tags" Target="../tags/tag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19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8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1.xml"/><Relationship Id="rId7" Type="http://schemas.openxmlformats.org/officeDocument/2006/relationships/oleObject" Target="../embeddings/oleObject12.bin"/><Relationship Id="rId2" Type="http://schemas.openxmlformats.org/officeDocument/2006/relationships/tags" Target="../tags/tag20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3.xml"/><Relationship Id="rId7" Type="http://schemas.openxmlformats.org/officeDocument/2006/relationships/oleObject" Target="../embeddings/oleObject13.bin"/><Relationship Id="rId2" Type="http://schemas.openxmlformats.org/officeDocument/2006/relationships/tags" Target="../tags/tag2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5.xml"/><Relationship Id="rId7" Type="http://schemas.openxmlformats.org/officeDocument/2006/relationships/oleObject" Target="../embeddings/oleObject14.bin"/><Relationship Id="rId2" Type="http://schemas.openxmlformats.org/officeDocument/2006/relationships/tags" Target="../tags/tag2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7.xml"/><Relationship Id="rId7" Type="http://schemas.openxmlformats.org/officeDocument/2006/relationships/oleObject" Target="../embeddings/oleObject15.bin"/><Relationship Id="rId2" Type="http://schemas.openxmlformats.org/officeDocument/2006/relationships/tags" Target="../tags/tag2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29.xml"/><Relationship Id="rId7" Type="http://schemas.openxmlformats.org/officeDocument/2006/relationships/oleObject" Target="../embeddings/oleObject16.bin"/><Relationship Id="rId2" Type="http://schemas.openxmlformats.org/officeDocument/2006/relationships/tags" Target="../tags/tag2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1.xml"/><Relationship Id="rId7" Type="http://schemas.openxmlformats.org/officeDocument/2006/relationships/oleObject" Target="../embeddings/oleObject17.bin"/><Relationship Id="rId2" Type="http://schemas.openxmlformats.org/officeDocument/2006/relationships/tags" Target="../tags/tag30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33.xml"/><Relationship Id="rId7" Type="http://schemas.openxmlformats.org/officeDocument/2006/relationships/oleObject" Target="../embeddings/oleObject18.bin"/><Relationship Id="rId2" Type="http://schemas.openxmlformats.org/officeDocument/2006/relationships/tags" Target="../tags/tag3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9.bin"/><Relationship Id="rId4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Слайд think-cell" r:id="rId4" imgW="8890" imgH="8890" progId="TCLayout.ActiveDocument.1">
                  <p:embed/>
                </p:oleObj>
              </mc:Choice>
              <mc:Fallback>
                <p:oleObj name="Слайд think-cell" r:id="rId4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а подразделений и основного бре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Слайд think-cell" r:id="rId4" imgW="8890" imgH="8890" progId="TCLayout.ActiveDocument.1">
                  <p:embed/>
                </p:oleObj>
              </mc:Choice>
              <mc:Fallback>
                <p:oleObj name="Слайд think-cell" r:id="rId4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Корпоративные цвета РТУ МИРЭА</a:t>
            </a:r>
          </a:p>
        </p:txBody>
      </p:sp>
      <p:sp>
        <p:nvSpPr>
          <p:cNvPr id="6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" name="Прямоугольник: скругленные углы 27"/>
          <p:cNvSpPr/>
          <p:nvPr userDrawn="1"/>
        </p:nvSpPr>
        <p:spPr>
          <a:xfrm rot="10800000">
            <a:off x="10185451" y="1903621"/>
            <a:ext cx="1656000" cy="360000"/>
          </a:xfrm>
          <a:prstGeom prst="roundRect">
            <a:avLst/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29" name="Прямоугольник: скругленные углы 28"/>
          <p:cNvSpPr/>
          <p:nvPr userDrawn="1"/>
        </p:nvSpPr>
        <p:spPr>
          <a:xfrm>
            <a:off x="10201038" y="2471500"/>
            <a:ext cx="1656000" cy="360000"/>
          </a:xfrm>
          <a:prstGeom prst="roundRect">
            <a:avLst/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0" name="Прямоугольник: скругленные углы 29"/>
          <p:cNvSpPr/>
          <p:nvPr userDrawn="1"/>
        </p:nvSpPr>
        <p:spPr>
          <a:xfrm rot="10800000">
            <a:off x="7973503" y="3480819"/>
            <a:ext cx="1656000" cy="360000"/>
          </a:xfrm>
          <a:prstGeom prst="roundRect">
            <a:avLst/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1" name="Прямоугольник: скругленные углы 30"/>
          <p:cNvSpPr/>
          <p:nvPr userDrawn="1"/>
        </p:nvSpPr>
        <p:spPr>
          <a:xfrm>
            <a:off x="7992734" y="4083057"/>
            <a:ext cx="1656000" cy="360000"/>
          </a:xfrm>
          <a:prstGeom prst="roundRect">
            <a:avLst/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2" name="Прямоугольник: скругленные углы 31"/>
          <p:cNvSpPr/>
          <p:nvPr userDrawn="1"/>
        </p:nvSpPr>
        <p:spPr>
          <a:xfrm rot="10800000">
            <a:off x="5761555" y="1903621"/>
            <a:ext cx="1656000" cy="360000"/>
          </a:xfrm>
          <a:prstGeom prst="roundRect">
            <a:avLst/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3" name="Прямоугольник: скругленные углы 32"/>
          <p:cNvSpPr/>
          <p:nvPr userDrawn="1"/>
        </p:nvSpPr>
        <p:spPr>
          <a:xfrm>
            <a:off x="5761555" y="2452513"/>
            <a:ext cx="1656000" cy="360000"/>
          </a:xfrm>
          <a:prstGeom prst="roundRect">
            <a:avLst/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4" name="Прямоугольник: скругленные углы 33"/>
          <p:cNvSpPr/>
          <p:nvPr userDrawn="1"/>
        </p:nvSpPr>
        <p:spPr>
          <a:xfrm rot="10800000">
            <a:off x="7973503" y="1903621"/>
            <a:ext cx="1656000" cy="360000"/>
          </a:xfrm>
          <a:prstGeom prst="roundRect">
            <a:avLst/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5" name="Прямоугольник: скругленные углы 34"/>
          <p:cNvSpPr/>
          <p:nvPr userDrawn="1"/>
        </p:nvSpPr>
        <p:spPr>
          <a:xfrm>
            <a:off x="7973503" y="2480463"/>
            <a:ext cx="1656000" cy="360000"/>
          </a:xfrm>
          <a:prstGeom prst="roundRect">
            <a:avLst/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6" name="Прямоугольник: скругленные углы 35"/>
          <p:cNvSpPr/>
          <p:nvPr userDrawn="1"/>
        </p:nvSpPr>
        <p:spPr>
          <a:xfrm rot="10800000">
            <a:off x="3549609" y="3480819"/>
            <a:ext cx="1656000" cy="360000"/>
          </a:xfrm>
          <a:prstGeom prst="roundRect">
            <a:avLst/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7" name="Прямоугольник: скругленные углы 36"/>
          <p:cNvSpPr/>
          <p:nvPr userDrawn="1"/>
        </p:nvSpPr>
        <p:spPr>
          <a:xfrm>
            <a:off x="3549608" y="4083057"/>
            <a:ext cx="1656000" cy="360000"/>
          </a:xfrm>
          <a:prstGeom prst="roundRect">
            <a:avLst/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8" name="Прямоугольник: скругленные углы 37"/>
          <p:cNvSpPr/>
          <p:nvPr userDrawn="1"/>
        </p:nvSpPr>
        <p:spPr>
          <a:xfrm rot="10800000">
            <a:off x="5761555" y="3480819"/>
            <a:ext cx="1656000" cy="360000"/>
          </a:xfrm>
          <a:prstGeom prst="roundRect">
            <a:avLst/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39" name="Прямоугольник: скругленные углы 38"/>
          <p:cNvSpPr/>
          <p:nvPr userDrawn="1"/>
        </p:nvSpPr>
        <p:spPr>
          <a:xfrm>
            <a:off x="5784430" y="4083057"/>
            <a:ext cx="1656000" cy="360000"/>
          </a:xfrm>
          <a:prstGeom prst="roundRect">
            <a:avLst/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0" name="Прямоугольник: скругленные углы 39"/>
          <p:cNvSpPr/>
          <p:nvPr userDrawn="1"/>
        </p:nvSpPr>
        <p:spPr>
          <a:xfrm rot="10800000">
            <a:off x="6914701" y="5381153"/>
            <a:ext cx="1656000" cy="360000"/>
          </a:xfrm>
          <a:prstGeom prst="roundRect">
            <a:avLst/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1" name="Прямоугольник: скругленные углы 40"/>
          <p:cNvSpPr/>
          <p:nvPr userDrawn="1"/>
        </p:nvSpPr>
        <p:spPr>
          <a:xfrm>
            <a:off x="6906718" y="5957884"/>
            <a:ext cx="1656000" cy="360000"/>
          </a:xfrm>
          <a:prstGeom prst="roundRect">
            <a:avLst/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2" name="Прямоугольник: скругленные углы 41"/>
          <p:cNvSpPr/>
          <p:nvPr userDrawn="1"/>
        </p:nvSpPr>
        <p:spPr>
          <a:xfrm rot="10800000">
            <a:off x="10185450" y="3480820"/>
            <a:ext cx="1656000" cy="360000"/>
          </a:xfrm>
          <a:prstGeom prst="roundRect">
            <a:avLst/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3" name="Прямоугольник: скругленные углы 42"/>
          <p:cNvSpPr/>
          <p:nvPr userDrawn="1"/>
        </p:nvSpPr>
        <p:spPr>
          <a:xfrm>
            <a:off x="10201038" y="4083057"/>
            <a:ext cx="1656000" cy="360000"/>
          </a:xfrm>
          <a:prstGeom prst="roundRect">
            <a:avLst/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4" name="Прямоугольник: скругленные углы 43"/>
          <p:cNvSpPr/>
          <p:nvPr userDrawn="1"/>
        </p:nvSpPr>
        <p:spPr>
          <a:xfrm rot="10800000">
            <a:off x="3549609" y="5403126"/>
            <a:ext cx="1656000" cy="360000"/>
          </a:xfrm>
          <a:prstGeom prst="roundRect">
            <a:avLst/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5" name="Прямоугольник: скругленные углы 44"/>
          <p:cNvSpPr/>
          <p:nvPr userDrawn="1"/>
        </p:nvSpPr>
        <p:spPr>
          <a:xfrm>
            <a:off x="3549608" y="5970069"/>
            <a:ext cx="1656000" cy="360000"/>
          </a:xfrm>
          <a:prstGeom prst="roundRect">
            <a:avLst/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6" name="Прямоугольник: скругленные углы 45"/>
          <p:cNvSpPr/>
          <p:nvPr userDrawn="1"/>
        </p:nvSpPr>
        <p:spPr>
          <a:xfrm rot="10800000">
            <a:off x="3549608" y="1903621"/>
            <a:ext cx="1656000" cy="360000"/>
          </a:xfrm>
          <a:prstGeom prst="roundRect">
            <a:avLst/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7" name="Прямоугольник: скругленные углы 46"/>
          <p:cNvSpPr/>
          <p:nvPr userDrawn="1"/>
        </p:nvSpPr>
        <p:spPr>
          <a:xfrm>
            <a:off x="3549608" y="2458720"/>
            <a:ext cx="1656000" cy="360000"/>
          </a:xfrm>
          <a:prstGeom prst="roundRect">
            <a:avLst/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8" name="Прямоугольник: скругленные углы 47"/>
          <p:cNvSpPr/>
          <p:nvPr userDrawn="1"/>
        </p:nvSpPr>
        <p:spPr>
          <a:xfrm rot="10800000">
            <a:off x="342961" y="2618791"/>
            <a:ext cx="1656000" cy="360000"/>
          </a:xfrm>
          <a:prstGeom prst="roundRect">
            <a:avLst/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49" name="Прямоугольник: скругленные углы 48"/>
          <p:cNvSpPr/>
          <p:nvPr userDrawn="1"/>
        </p:nvSpPr>
        <p:spPr>
          <a:xfrm rot="10800000">
            <a:off x="342960" y="3272660"/>
            <a:ext cx="1656000" cy="360000"/>
          </a:xfrm>
          <a:prstGeom prst="roundRect">
            <a:avLst/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0" name="Прямоугольник: скругленные углы 49"/>
          <p:cNvSpPr/>
          <p:nvPr userDrawn="1"/>
        </p:nvSpPr>
        <p:spPr>
          <a:xfrm rot="10800000">
            <a:off x="342961" y="1903621"/>
            <a:ext cx="1656000" cy="360000"/>
          </a:xfrm>
          <a:prstGeom prst="roundRect">
            <a:avLst/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1" name="Прямоугольник: скругленные углы 50"/>
          <p:cNvSpPr/>
          <p:nvPr userDrawn="1"/>
        </p:nvSpPr>
        <p:spPr>
          <a:xfrm>
            <a:off x="342960" y="3836551"/>
            <a:ext cx="1656000" cy="360000"/>
          </a:xfrm>
          <a:prstGeom prst="roundRect">
            <a:avLst/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52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Основной цвет</a:t>
            </a:r>
          </a:p>
        </p:txBody>
      </p:sp>
      <p:sp>
        <p:nvSpPr>
          <p:cNvPr id="53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Дополнительный цвет</a:t>
            </a:r>
          </a:p>
        </p:txBody>
      </p:sp>
      <p:sp>
        <p:nvSpPr>
          <p:cNvPr id="54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университета</a:t>
            </a:r>
            <a:br>
              <a:rPr lang="ru-RU" sz="2400" baseline="30000" dirty="0">
                <a:latin typeface="Arial" panose="020B0604020202020204" pitchFamily="34" charset="0"/>
              </a:rPr>
            </a:br>
            <a:r>
              <a:rPr lang="ru-RU" sz="2400" baseline="30000" dirty="0">
                <a:latin typeface="Arial" panose="020B0604020202020204" pitchFamily="34" charset="0"/>
              </a:rPr>
              <a:t>и филиалов</a:t>
            </a:r>
          </a:p>
        </p:txBody>
      </p:sp>
      <p:sp>
        <p:nvSpPr>
          <p:cNvPr id="55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</a:pPr>
            <a:r>
              <a:rPr lang="ru-RU" sz="1000" dirty="0">
                <a:latin typeface="Arial" panose="020B0604020202020204" pitchFamily="34" charset="0"/>
              </a:rPr>
              <a:t>Градиент</a:t>
            </a:r>
          </a:p>
        </p:txBody>
      </p:sp>
      <p:sp>
        <p:nvSpPr>
          <p:cNvPr id="56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Цвета институтов</a:t>
            </a:r>
          </a:p>
        </p:txBody>
      </p:sp>
      <p:sp>
        <p:nvSpPr>
          <p:cNvPr id="57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колледжа</a:t>
            </a:r>
          </a:p>
        </p:txBody>
      </p:sp>
      <p:sp>
        <p:nvSpPr>
          <p:cNvPr id="58" name="TextBox 57"/>
          <p:cNvSpPr txBox="1"/>
          <p:nvPr userDrawn="1"/>
        </p:nvSpPr>
        <p:spPr bwMode="auto">
          <a:xfrm>
            <a:off x="6912299" y="5108115"/>
            <a:ext cx="5089201" cy="219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Цвет Института международного образования</a:t>
            </a:r>
          </a:p>
          <a:p>
            <a:endParaRPr lang="ru-RU" sz="2400" baseline="30000" dirty="0">
              <a:latin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ИИИ</a:t>
            </a:r>
          </a:p>
        </p:txBody>
      </p:sp>
      <p:grpSp>
        <p:nvGrpSpPr>
          <p:cNvPr id="96" name="Группа 95"/>
          <p:cNvGrpSpPr/>
          <p:nvPr userDrawn="1"/>
        </p:nvGrpSpPr>
        <p:grpSpPr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sp>
        <p:nvSpPr>
          <p:cNvPr id="63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r>
              <a:rPr lang="ru-RU" sz="2400" baseline="30000" dirty="0">
                <a:latin typeface="Arial" panose="020B0604020202020204" pitchFamily="34" charset="0"/>
              </a:rPr>
              <a:t>Чтобы взять необходимый цвет на слайд, воспользуйтесь инструментом «Пипетка»</a:t>
            </a:r>
          </a:p>
        </p:txBody>
      </p:sp>
      <p:grpSp>
        <p:nvGrpSpPr>
          <p:cNvPr id="97" name="Группа 96"/>
          <p:cNvGrpSpPr/>
          <p:nvPr userDrawn="1"/>
        </p:nvGrpSpPr>
        <p:grpSpPr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ИТХТ</a:t>
              </a:r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68" name="Группа 67"/>
          <p:cNvGrpSpPr/>
          <p:nvPr userDrawn="1"/>
        </p:nvGrpSpPr>
        <p:grpSpPr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ИРИ</a:t>
              </a:r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72" name="Группа 71"/>
          <p:cNvGrpSpPr/>
          <p:nvPr userDrawn="1"/>
        </p:nvGrpSpPr>
        <p:grpSpPr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ИИТ</a:t>
              </a:r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2" name="Группа 91"/>
          <p:cNvGrpSpPr/>
          <p:nvPr userDrawn="1"/>
        </p:nvGrpSpPr>
        <p:grpSpPr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ИКБ</a:t>
              </a:r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3" name="Группа 92"/>
          <p:cNvGrpSpPr/>
          <p:nvPr userDrawn="1"/>
        </p:nvGrpSpPr>
        <p:grpSpPr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ИТУ</a:t>
              </a:r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5" name="Группа 94"/>
          <p:cNvGrpSpPr/>
          <p:nvPr userDrawn="1"/>
        </p:nvGrpSpPr>
        <p:grpSpPr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ИПТИП</a:t>
              </a:r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  <p:grpSp>
        <p:nvGrpSpPr>
          <p:cNvPr id="94" name="Группа 93"/>
          <p:cNvGrpSpPr/>
          <p:nvPr userDrawn="1"/>
        </p:nvGrpSpPr>
        <p:grpSpPr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r>
                <a:rPr lang="ru-RU" sz="2400" baseline="30000" dirty="0">
                  <a:latin typeface="Arial" panose="020B0604020202020204" pitchFamily="34" charset="0"/>
                </a:rPr>
                <a:t>ПИШ</a:t>
              </a:r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Основной цвет</a:t>
              </a:r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</a:pPr>
              <a:r>
                <a:rPr lang="ru-RU" sz="1000" dirty="0">
                  <a:latin typeface="Arial" panose="020B0604020202020204" pitchFamily="34" charset="0"/>
                </a:rPr>
                <a:t>Градиент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несколькими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Рисунок 31"/>
          <p:cNvSpPr>
            <a:spLocks noGrp="1"/>
          </p:cNvSpPr>
          <p:nvPr>
            <p:ph type="pic" sz="quarter" idx="14"/>
          </p:nvPr>
        </p:nvSpPr>
        <p:spPr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1" name="Рисунок 31"/>
          <p:cNvSpPr>
            <a:spLocks noGrp="1"/>
          </p:cNvSpPr>
          <p:nvPr>
            <p:ph type="pic" sz="quarter" idx="20"/>
          </p:nvPr>
        </p:nvSpPr>
        <p:spPr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Рисунок 31"/>
          <p:cNvSpPr>
            <a:spLocks noGrp="1"/>
          </p:cNvSpPr>
          <p:nvPr>
            <p:ph type="pic" sz="quarter" idx="21"/>
          </p:nvPr>
        </p:nvSpPr>
        <p:spPr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6" name="Рисунок 31"/>
          <p:cNvSpPr>
            <a:spLocks noGrp="1"/>
          </p:cNvSpPr>
          <p:nvPr>
            <p:ph type="pic" sz="quarter" idx="22"/>
          </p:nvPr>
        </p:nvSpPr>
        <p:spPr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7" name="Рисунок 31"/>
          <p:cNvSpPr>
            <a:spLocks noGrp="1"/>
          </p:cNvSpPr>
          <p:nvPr>
            <p:ph type="pic" sz="quarter" idx="23"/>
          </p:nvPr>
        </p:nvSpPr>
        <p:spPr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8" name="Рисунок 31"/>
          <p:cNvSpPr>
            <a:spLocks noGrp="1"/>
          </p:cNvSpPr>
          <p:nvPr>
            <p:ph type="pic" sz="quarter" idx="24"/>
          </p:nvPr>
        </p:nvSpPr>
        <p:spPr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47662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 panose="05000000000000000000" pitchFamily="2" charset="2"/>
              <a:buNone/>
              <a:defRPr lang="ru-RU" sz="1200" kern="1200" dirty="0" smtClean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>
          <a:xfrm>
            <a:off x="347662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 в три или четыре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азовый слайд с диаграмм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7662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47662" y="57633"/>
            <a:ext cx="10398685" cy="738664"/>
          </a:xfr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chemeClr val="accent5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43" name="Текст 42"/>
          <p:cNvSpPr>
            <a:spLocks noGrp="1"/>
          </p:cNvSpPr>
          <p:nvPr>
            <p:ph type="body" sz="quarter" idx="19" hasCustomPrompt="1"/>
          </p:nvPr>
        </p:nvSpPr>
        <p:spPr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3" name="Диаграмма 32"/>
          <p:cNvSpPr>
            <a:spLocks noGrp="1"/>
          </p:cNvSpPr>
          <p:nvPr>
            <p:ph type="chart" sz="quarter" idx="20"/>
          </p:nvPr>
        </p:nvSpPr>
        <p:spPr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2" name="Текст 42"/>
          <p:cNvSpPr>
            <a:spLocks noGrp="1"/>
          </p:cNvSpPr>
          <p:nvPr>
            <p:ph type="body" sz="quarter" idx="21" hasCustomPrompt="1"/>
          </p:nvPr>
        </p:nvSpPr>
        <p:spPr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4" name="Диаграмма 32"/>
          <p:cNvSpPr>
            <a:spLocks noGrp="1"/>
          </p:cNvSpPr>
          <p:nvPr>
            <p:ph type="chart" sz="quarter" idx="22"/>
          </p:nvPr>
        </p:nvSpPr>
        <p:spPr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  <p:sp>
        <p:nvSpPr>
          <p:cNvPr id="45" name="Текст 42"/>
          <p:cNvSpPr>
            <a:spLocks noGrp="1"/>
          </p:cNvSpPr>
          <p:nvPr>
            <p:ph type="body" sz="quarter" idx="23" hasCustomPrompt="1"/>
          </p:nvPr>
        </p:nvSpPr>
        <p:spPr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 panose="020B0604020202020204" pitchFamily="34" charset="0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/>
            <a:r>
              <a:rPr lang="ru-RU" dirty="0"/>
              <a:t>Заголовок может быть набран</a:t>
            </a:r>
            <a:br>
              <a:rPr lang="ru-RU" dirty="0"/>
            </a:br>
            <a:r>
              <a:rPr lang="ru-RU" dirty="0"/>
              <a:t>в две или три строки (14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46" name="Диаграмма 32"/>
          <p:cNvSpPr>
            <a:spLocks noGrp="1"/>
          </p:cNvSpPr>
          <p:nvPr>
            <p:ph type="chart" sz="quarter" idx="24"/>
          </p:nvPr>
        </p:nvSpPr>
        <p:spPr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" name="Группа 1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3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-резю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Слайд think-cell" r:id="rId4" imgW="8890" imgH="8890" progId="TCLayout.ActiveDocument.1">
                  <p:embed/>
                </p:oleObj>
              </mc:Choice>
              <mc:Fallback>
                <p:oleObj name="Слайд think-cell" r:id="rId4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144145" indent="-144145">
              <a:buClr>
                <a:schemeClr val="accent5"/>
              </a:buClr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В данное поле необходимо добавить текст.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  <a:r>
              <a:rPr lang="en-US" dirty="0"/>
              <a:t> (14 pt )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en-US" dirty="0"/>
              <a:t>pt) </a:t>
            </a:r>
            <a:endParaRPr lang="ru-RU" dirty="0"/>
          </a:p>
        </p:txBody>
      </p:sp>
      <p:sp>
        <p:nvSpPr>
          <p:cNvPr id="6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2" name="Прямая соединительная линия 1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3" name="Группа 2"/>
          <p:cNvGrpSpPr/>
          <p:nvPr userDrawn="1"/>
        </p:nvGrpSpPr>
        <p:grpSpPr>
          <a:xfrm>
            <a:off x="11113862" y="171149"/>
            <a:ext cx="743176" cy="521001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Фрязи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1081227">
            <a:off x="8502882" y="3391156"/>
            <a:ext cx="4641366" cy="46439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chemeClr val="accent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34" name="Текст 33"/>
          <p:cNvSpPr>
            <a:spLocks noGrp="1"/>
          </p:cNvSpPr>
          <p:nvPr>
            <p:ph type="body" sz="quarter" idx="14" hasCustomPrompt="1"/>
          </p:nvPr>
        </p:nvSpPr>
        <p:spPr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 rot="16200000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24" name="Полилиния: фигура 23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8" cstate="print"/>
          <a:srcRect l="3254" t="3254" r="3254" b="3254"/>
          <a:stretch>
            <a:fillRect/>
          </a:stretch>
        </p:blipFill>
        <p:spPr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26" name="Прямоугольник 25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7" name="Прямоугольник 26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8" cstate="print"/>
          <a:srcRect l="3254" t="3254" r="3254" b="3254"/>
          <a:stretch>
            <a:fillRect/>
          </a:stretch>
        </p:blipFill>
        <p:spPr>
          <a:xfrm rot="7837172">
            <a:off x="1128220" y="896378"/>
            <a:ext cx="3912558" cy="3912558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37" name="Title 1"/>
          <p:cNvSpPr txBox="1"/>
          <p:nvPr userDrawn="1"/>
        </p:nvSpPr>
        <p:spPr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7E4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искусственного интеллекта</a:t>
            </a:r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67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7E40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55" name="Рисунок 54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8100000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Полилиния: фигура 5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Title 1"/>
          <p:cNvSpPr txBox="1"/>
          <p:nvPr userDrawn="1"/>
        </p:nvSpPr>
        <p:spPr>
          <a:xfrm>
            <a:off x="2402922" y="167207"/>
            <a:ext cx="4926206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тонких химических технологий имени М.В. Ломоносова</a:t>
            </a:r>
          </a:p>
        </p:txBody>
      </p:sp>
      <p:grpSp>
        <p:nvGrpSpPr>
          <p:cNvPr id="20" name="Группа 19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B2639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26397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3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6397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Обложка ИИ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Рисунок 8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5" name="Рисунок 84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7200000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87" name="Рисунок 8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2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55" name="Полилиния: фигура 54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7" name="Прямоугольник 56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8" name="Прямоугольник 57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0" name="Title 1"/>
          <p:cNvSpPr txBox="1"/>
          <p:nvPr userDrawn="1"/>
        </p:nvSpPr>
        <p:spPr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06F6F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информационных технологий</a:t>
            </a:r>
          </a:p>
        </p:txBody>
      </p:sp>
      <p:grpSp>
        <p:nvGrpSpPr>
          <p:cNvPr id="61" name="Группа 60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06F6F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Обложка И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Рисунок 60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7200000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6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Полилиния: фигура 3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" name="Title 1"/>
          <p:cNvSpPr txBox="1"/>
          <p:nvPr userDrawn="1"/>
        </p:nvSpPr>
        <p:spPr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B24C3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технологий управления</a:t>
            </a:r>
          </a:p>
        </p:txBody>
      </p:sp>
      <p:grpSp>
        <p:nvGrpSpPr>
          <p:cNvPr id="28" name="Группа 27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6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B24C3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ТХ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0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Полилиния: фигура 11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9" name="Title 1"/>
          <p:cNvSpPr txBox="1"/>
          <p:nvPr userDrawn="1"/>
        </p:nvSpPr>
        <p:spPr>
          <a:xfrm>
            <a:off x="2402922" y="154725"/>
            <a:ext cx="7202131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перспективных технологий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 индустриального программирования</a:t>
            </a:r>
          </a:p>
        </p:txBody>
      </p:sp>
      <p:grpSp>
        <p:nvGrpSpPr>
          <p:cNvPr id="21" name="Группа 20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E9B6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E9B622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9B62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ИР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Рисунок 56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0800000">
            <a:off x="8495717" y="3300804"/>
            <a:ext cx="4997470" cy="4997470"/>
          </a:xfrm>
          <a:prstGeom prst="rect">
            <a:avLst/>
          </a:prstGeom>
        </p:spPr>
      </p:pic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7200000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88384" y="3067903"/>
            <a:ext cx="6877516" cy="741710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4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2" name="Полилиния: фигура 11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1" name="Title 1"/>
          <p:cNvSpPr txBox="1"/>
          <p:nvPr userDrawn="1"/>
        </p:nvSpPr>
        <p:spPr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радиоэлектроники и информатики</a:t>
            </a:r>
          </a:p>
        </p:txBody>
      </p:sp>
      <p:grpSp>
        <p:nvGrpSpPr>
          <p:cNvPr id="23" name="Группа 22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2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71207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Обложка ИК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55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60" name="Рисунок 5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58" name="Рисунок 5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8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>
          <a:xfrm>
            <a:off x="2402923" y="368869"/>
            <a:ext cx="3476768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006D8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Институт кибербезопасности и цифровых технологий</a:t>
            </a: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006D8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5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_Обложка Коллед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9900000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2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>
          <a:xfrm>
            <a:off x="2402922" y="180857"/>
            <a:ext cx="6402705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Колледж программирования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EA7125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и кибербезопасности</a:t>
            </a: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EA7125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10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Обложка ПИ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 rot="16200000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6" name="Слайд think-cell" r:id="rId7" imgW="8890" imgH="8890" progId="TCLayout.ActiveDocument.1">
                  <p:embed/>
                </p:oleObj>
              </mc:Choice>
              <mc:Fallback>
                <p:oleObj name="Слайд think-cell" r:id="rId7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" name="Полилиния: фигура 6"/>
          <p:cNvSpPr/>
          <p:nvPr userDrawn="1"/>
        </p:nvSpPr>
        <p:spPr>
          <a:xfrm rot="2053506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219450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2174764" y="2895599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2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4" name="Title 1"/>
          <p:cNvSpPr txBox="1"/>
          <p:nvPr userDrawn="1"/>
        </p:nvSpPr>
        <p:spPr>
          <a:xfrm>
            <a:off x="2402922" y="200292"/>
            <a:ext cx="8289422" cy="699404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Передовая инженерная школа </a:t>
            </a:r>
            <a:b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СВЧ-электроники</a:t>
            </a:r>
          </a:p>
        </p:txBody>
      </p:sp>
      <p:grpSp>
        <p:nvGrpSpPr>
          <p:cNvPr id="16" name="Группа 15"/>
          <p:cNvGrpSpPr/>
          <p:nvPr userDrawn="1"/>
        </p:nvGrpSpPr>
        <p:grpSpPr>
          <a:xfrm>
            <a:off x="9620249" y="530559"/>
            <a:ext cx="2022129" cy="1417607"/>
            <a:chOff x="4091278" y="2349598"/>
            <a:chExt cx="3638550" cy="2550794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3D378D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3D378D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4" name="Title 1"/>
          <p:cNvSpPr txBox="1"/>
          <p:nvPr userDrawn="1"/>
        </p:nvSpPr>
        <p:spPr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2400" b="1" kern="1200" dirty="0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1800" b="0" i="0" u="none" strike="noStrike" kern="1200" cap="none" spc="250" normalizeH="0" baseline="0" noProof="0" dirty="0">
                <a:ln>
                  <a:noFill/>
                </a:ln>
                <a:solidFill>
                  <a:srgbClr val="8291A2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+mj-cs"/>
              </a:rPr>
              <a:t>ВМЕСТЕ СОЗДАЁМ БУДУЩЕЕ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 kern="1200" dirty="0">
                <a:solidFill>
                  <a:srgbClr val="3D378D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Название презентации</a:t>
            </a:r>
            <a:br>
              <a:rPr lang="ru-RU" dirty="0"/>
            </a:br>
            <a:r>
              <a:rPr lang="ru-RU" dirty="0"/>
              <a:t>может быть набрано в две </a:t>
            </a:r>
            <a:br>
              <a:rPr lang="ru-RU" dirty="0"/>
            </a:br>
            <a:r>
              <a:rPr lang="ru-RU" dirty="0"/>
              <a:t>или три строки (32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sp>
        <p:nvSpPr>
          <p:cNvPr id="6" name="Текст 33"/>
          <p:cNvSpPr>
            <a:spLocks noGrp="1"/>
          </p:cNvSpPr>
          <p:nvPr>
            <p:ph type="body" sz="quarter" idx="15" hasCustomPrompt="1"/>
          </p:nvPr>
        </p:nvSpPr>
        <p:spPr>
          <a:xfrm>
            <a:off x="2387600" y="3419864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 panose="020B06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ru-RU" dirty="0"/>
              <a:t>Выступающий Фамилия И.О. | дата выступления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_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960" y="1597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0" name="Слайд think-cell" r:id="rId5" imgW="8890" imgH="8890" progId="TCLayout.ActiveDocument.1">
                  <p:embed/>
                </p:oleObj>
              </mc:Choice>
              <mc:Fallback>
                <p:oleObj name="Слайд think-cell" r:id="rId5" imgW="8890" imgH="8890" progId="TCLayout.ActiveDocument.1">
                  <p:embed/>
                  <p:pic>
                    <p:nvPicPr>
                      <p:cNvPr id="0" name="Object 8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60" y="1597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3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50600" y="2613958"/>
            <a:ext cx="5569500" cy="699404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 baseline="0">
                <a:solidFill>
                  <a:schemeClr val="accent5"/>
                </a:solidFill>
                <a:latin typeface="Arial" panose="020B0604020202020204" pitchFamily="34" charset="0"/>
              </a:defRPr>
            </a:lvl1pPr>
          </a:lstStyle>
          <a:p>
            <a:r>
              <a:rPr lang="ru-RU" dirty="0"/>
              <a:t>Название раздела</a:t>
            </a:r>
          </a:p>
        </p:txBody>
      </p:sp>
      <p:sp>
        <p:nvSpPr>
          <p:cNvPr id="4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algn="ctr"/>
            <a:endParaRPr lang="ru-RU" sz="1200" dirty="0" err="1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Заголовок 6"/>
          <p:cNvSpPr txBox="1"/>
          <p:nvPr userDrawn="1"/>
        </p:nvSpPr>
        <p:spPr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+mj-cs"/>
            </a:endParaRPr>
          </a:p>
        </p:txBody>
      </p:sp>
      <p:sp>
        <p:nvSpPr>
          <p:cNvPr id="6" name="object 5"/>
          <p:cNvSpPr/>
          <p:nvPr userDrawn="1"/>
        </p:nvSpPr>
        <p:spPr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object 6"/>
          <p:cNvSpPr/>
          <p:nvPr userDrawn="1"/>
        </p:nvSpPr>
        <p:spPr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8" name="object 214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1634170" y="1851797"/>
            <a:ext cx="1784387" cy="1784642"/>
          </a:xfrm>
          <a:prstGeom prst="rect">
            <a:avLst/>
          </a:prstGeom>
        </p:spPr>
      </p:pic>
      <p:pic>
        <p:nvPicPr>
          <p:cNvPr id="9" name="object 215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ru-RU" sz="2800" b="1" kern="1200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+mj-cs"/>
              </a:rPr>
              <a:t>Спасибо за внимание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Базовый слайд с под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 hidden="1"/>
          <p:cNvSpPr/>
          <p:nvPr>
            <p:custDataLst>
              <p:tags r:id="rId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 dirty="0">
                <a:solidFill>
                  <a:schemeClr val="accent6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/>
            <a:r>
              <a:rPr lang="ru-RU" dirty="0"/>
              <a:t>Подзаголовок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336000" y="150528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8" name="Rectangle 12"/>
          <p:cNvSpPr/>
          <p:nvPr userDrawn="1"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‹#›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Объект 6" hidden="1"/>
          <p:cNvGraphicFramePr>
            <a:graphicFrameLocks noChangeAspect="1"/>
          </p:cNvGraphicFramePr>
          <p:nvPr>
            <p:custDataLst>
              <p:tags r:id="rId23"/>
            </p:custDataLst>
          </p:nvPr>
        </p:nvGraphicFramePr>
        <p:xfrm>
          <a:off x="1813" y="1441"/>
          <a:ext cx="1809" cy="1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Слайд think-cell" r:id="rId24" imgW="8890" imgH="8890" progId="TCLayout.ActiveDocument.1">
                  <p:embed/>
                </p:oleObj>
              </mc:Choice>
              <mc:Fallback>
                <p:oleObj name="Слайд think-cell" r:id="rId24" imgW="8890" imgH="8890" progId="TCLayout.ActiveDocument.1">
                  <p:embed/>
                  <p:pic>
                    <p:nvPicPr>
                      <p:cNvPr id="0" name="Объект 6" hidden="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813" y="1441"/>
                        <a:ext cx="1809" cy="1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ru-RU" dirty="0"/>
              <a:t>Заголовок может быть набран </a:t>
            </a:r>
            <a:br>
              <a:rPr lang="ru-RU" dirty="0"/>
            </a:br>
            <a:r>
              <a:rPr lang="ru-RU" dirty="0"/>
              <a:t>в одну или две строки (24 </a:t>
            </a:r>
            <a:r>
              <a:rPr lang="ru-RU" dirty="0" err="1"/>
              <a:t>pt</a:t>
            </a:r>
            <a:r>
              <a:rPr lang="ru-RU" dirty="0"/>
              <a:t>) </a:t>
            </a:r>
          </a:p>
        </p:txBody>
      </p:sp>
      <p:grpSp>
        <p:nvGrpSpPr>
          <p:cNvPr id="72" name="ИЦ" hidden="1"/>
          <p:cNvGrpSpPr>
            <a:grpSpLocks noChangeAspect="1"/>
          </p:cNvGrpSpPr>
          <p:nvPr userDrawn="1"/>
        </p:nvGrpSpPr>
        <p:grpSpPr>
          <a:xfrm>
            <a:off x="1254294" y="6387627"/>
            <a:ext cx="802663" cy="321812"/>
            <a:chOff x="664784" y="6387627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>
            <a:xfrm>
              <a:off x="664784" y="6387627"/>
              <a:ext cx="268176" cy="321812"/>
              <a:chOff x="664784" y="6387627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>
              <a:xfrm>
                <a:off x="664784" y="6387627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>
              <a:xfrm>
                <a:off x="768529" y="6496685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1" name="Московский транспорт" hidden="1"/>
          <p:cNvGrpSpPr>
            <a:grpSpLocks noChangeAspect="1"/>
          </p:cNvGrpSpPr>
          <p:nvPr userDrawn="1"/>
        </p:nvGrpSpPr>
        <p:grpSpPr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93" name="Московский метрополитен" hidden="1"/>
          <p:cNvGrpSpPr>
            <a:grpSpLocks noChangeAspect="1"/>
          </p:cNvGrpSpPr>
          <p:nvPr userDrawn="1"/>
        </p:nvGrpSpPr>
        <p:grpSpPr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>
            <a:xfrm>
              <a:off x="5087425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18" name="Мосгортранс" hidden="1"/>
          <p:cNvGrpSpPr>
            <a:grpSpLocks noChangeAspect="1"/>
          </p:cNvGrpSpPr>
          <p:nvPr userDrawn="1"/>
        </p:nvGrpSpPr>
        <p:grpSpPr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>
            <a:xfrm>
              <a:off x="690953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>
            <a:xfrm>
              <a:off x="7220045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33" name="Московский паркинг" hidden="1"/>
          <p:cNvGrpSpPr>
            <a:grpSpLocks noChangeAspect="1"/>
          </p:cNvGrpSpPr>
          <p:nvPr userDrawn="1"/>
        </p:nvGrpSpPr>
        <p:grpSpPr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259" name="Такси" hidden="1"/>
          <p:cNvGrpSpPr>
            <a:grpSpLocks noChangeAspect="1"/>
          </p:cNvGrpSpPr>
          <p:nvPr userDrawn="1"/>
        </p:nvGrpSpPr>
        <p:grpSpPr>
          <a:xfrm>
            <a:off x="1254294" y="6388794"/>
            <a:ext cx="559622" cy="319479"/>
            <a:chOff x="4975650" y="3912409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>
            <a:xfrm>
              <a:off x="5454853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>
            <a:xfrm>
              <a:off x="4975650" y="3912409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>
            <a:xfrm>
              <a:off x="5085759" y="4125198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54" name="ОП" hidden="1"/>
          <p:cNvGrpSpPr>
            <a:grpSpLocks noChangeAspect="1"/>
          </p:cNvGrpSpPr>
          <p:nvPr userDrawn="1"/>
        </p:nvGrpSpPr>
        <p:grpSpPr>
          <a:xfrm>
            <a:off x="1254294" y="6387627"/>
            <a:ext cx="857365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>
            <a:xfrm>
              <a:off x="5349304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3" name="Велотранспорт" hidden="1"/>
          <p:cNvGrpSpPr>
            <a:grpSpLocks noChangeAspect="1"/>
          </p:cNvGrpSpPr>
          <p:nvPr userDrawn="1"/>
        </p:nvGrpSpPr>
        <p:grpSpPr>
          <a:xfrm>
            <a:off x="1254294" y="6387627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>
            <a:xfrm>
              <a:off x="5615549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>
            <a:xfrm>
              <a:off x="5912167" y="3362325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2400" b="1" kern="1200" dirty="0">
          <a:solidFill>
            <a:schemeClr val="accent5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chemeClr val="accent4"/>
        </a:buClr>
        <a:buFont typeface="Wingdings" panose="05000000000000000000" pitchFamily="2" charset="2"/>
        <a:buNone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144145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Wingdings" panose="05000000000000000000" pitchFamily="2" charset="2"/>
        <a:buChar char="§"/>
        <a:defRPr lang="ru-RU" sz="120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288290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−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▫"/>
        <a:defRPr lang="ru-RU" sz="12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575945" indent="-144145" algn="l" defTabSz="914400" rtl="0" eaLnBrk="1" latinLnBrk="0" hangingPunct="1">
        <a:lnSpc>
          <a:spcPct val="100000"/>
        </a:lnSpc>
        <a:spcBef>
          <a:spcPts val="0"/>
        </a:spcBef>
        <a:buClr>
          <a:schemeClr val="accent5"/>
        </a:buClr>
        <a:buFont typeface="Arial" panose="020B0604020202020204" pitchFamily="34" charset="0"/>
        <a:buChar char="-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9.png"/><Relationship Id="rId7" Type="http://schemas.openxmlformats.org/officeDocument/2006/relationships/image" Target="../media/image3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e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DC/D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преобразователь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Шеппарда-Тейлора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Филатов Степан Владимирович РРБО-01-22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95473" y="1358720"/>
            <a:ext cx="6877516" cy="41405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 bwMode="auto">
          <a:xfrm>
            <a:off x="335997" y="1054591"/>
            <a:ext cx="7183249" cy="8621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rIns="0">
            <a:noAutofit/>
          </a:bodyPr>
          <a:lstStyle/>
          <a:p>
            <a:pPr algn="just">
              <a:defRPr/>
            </a:pPr>
            <a:r>
              <a:rPr lang="ru-RU" sz="1600" dirty="0"/>
              <a:t>Развитие современной радиотехники характеризуется тенденцией к созданию и широкому применению автономных радиотехнических устройств</a:t>
            </a:r>
            <a:r>
              <a:rPr lang="en-US" sz="1600" dirty="0" smtClean="0"/>
              <a:t>.</a:t>
            </a:r>
            <a:r>
              <a:rPr lang="ru-RU" sz="1600" dirty="0" smtClean="0"/>
              <a:t> В </a:t>
            </a:r>
            <a:r>
              <a:rPr lang="ru-RU" sz="1600" dirty="0"/>
              <a:t>связи с этим, разработка источников </a:t>
            </a:r>
            <a:r>
              <a:rPr lang="ru-RU" sz="1600" dirty="0" smtClean="0"/>
              <a:t>электропитания</a:t>
            </a:r>
            <a:r>
              <a:rPr lang="ru-RU" sz="1600" dirty="0"/>
              <a:t>, удовлетворяющих специфическим требованиям АРТУ по напряжению, току, габаритам и </a:t>
            </a:r>
            <a:r>
              <a:rPr lang="ru-RU" sz="1600" dirty="0" err="1"/>
              <a:t>энергоэффективности</a:t>
            </a:r>
            <a:r>
              <a:rPr lang="ru-RU" sz="1600" dirty="0"/>
              <a:t>, представляет собой актуальную научно-техническую задачу. Одним из перспективных решений для электропитания АРТУ является использование импульсных DC/DC преобразователей, в частности, преобразователя </a:t>
            </a:r>
            <a:r>
              <a:rPr lang="ru-RU" sz="1600" dirty="0" err="1"/>
              <a:t>Шеппарда</a:t>
            </a:r>
            <a:r>
              <a:rPr lang="ru-RU" sz="1600" dirty="0"/>
              <a:t>-Тейлора.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262465" y="3564791"/>
            <a:ext cx="7720429" cy="35394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indent="457200" algn="just"/>
            <a:r>
              <a:rPr lang="ru-RU" sz="1600" b="1" dirty="0"/>
              <a:t>Целью данной работы является </a:t>
            </a:r>
            <a:r>
              <a:rPr lang="ru-RU" sz="1600" b="1" dirty="0" smtClean="0"/>
              <a:t>расчетно-экспериментальный анализ </a:t>
            </a:r>
            <a:r>
              <a:rPr lang="ru-RU" sz="1600" b="1" dirty="0"/>
              <a:t>преобразователя Шеппарда-Тейлора с использованием его математической модели для электропитания автономных радиотехнических устройств</a:t>
            </a:r>
            <a:endParaRPr lang="en-US" sz="1600" b="1" dirty="0"/>
          </a:p>
          <a:p>
            <a:r>
              <a:rPr lang="ru-RU" sz="1600" b="1" dirty="0" smtClean="0"/>
              <a:t>Для </a:t>
            </a:r>
            <a:r>
              <a:rPr lang="ru-RU" sz="1600" b="1" dirty="0"/>
              <a:t>достижения поставленной цели необходимо решить следующие задачи:</a:t>
            </a:r>
          </a:p>
          <a:p>
            <a:pPr lvl="0"/>
            <a:r>
              <a:rPr lang="en-US" sz="1600" b="1" dirty="0"/>
              <a:t>   </a:t>
            </a:r>
            <a:r>
              <a:rPr lang="ru-RU" sz="1600" b="1" dirty="0"/>
              <a:t>Разработать математическую модель преобразователя </a:t>
            </a:r>
            <a:r>
              <a:rPr lang="ru-RU" sz="1600" b="1" dirty="0" err="1"/>
              <a:t>Шеппарда</a:t>
            </a:r>
            <a:r>
              <a:rPr lang="ru-RU" sz="1600" b="1" dirty="0"/>
              <a:t>-Тейлора, учитывающую основные параметры и характеристики элементов схемы.</a:t>
            </a:r>
          </a:p>
          <a:p>
            <a:pPr lvl="0"/>
            <a:r>
              <a:rPr lang="en-US" sz="1600" b="1" dirty="0"/>
              <a:t>   </a:t>
            </a:r>
            <a:r>
              <a:rPr lang="ru-RU" sz="1600" b="1" dirty="0" smtClean="0"/>
              <a:t>Выполнить экспериментальное и </a:t>
            </a:r>
            <a:r>
              <a:rPr lang="ru-RU" sz="1600" b="1" dirty="0"/>
              <a:t>компьютерное моделирование преобразователя Шеппарда-Тейлора в программном пакете NI Multisim для проверки адекватности математической модели и оценки влияния различных факторов на его работу.</a:t>
            </a:r>
          </a:p>
          <a:p>
            <a:pPr indent="457200" algn="just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226727" y="39815"/>
            <a:ext cx="6004633" cy="9541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712073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Институт радиоэлектроники и информатики </a:t>
            </a: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2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953695" y="3067903"/>
            <a:ext cx="6877516" cy="741710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 bwMode="auto">
          <a:xfrm>
            <a:off x="1760252" y="123122"/>
            <a:ext cx="600463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ru-RU" sz="2800" dirty="0"/>
              <a:t>Существующие топологии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3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67903"/>
            <a:ext cx="6877516" cy="741710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43356" y="420456"/>
            <a:ext cx="2022129" cy="1417607"/>
            <a:chOff x="4091278" y="2349598"/>
            <a:chExt cx="3638550" cy="2550794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3956883-14FE-4BA0-9D02-5F5A6EBD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466" y="874063"/>
            <a:ext cx="2783684" cy="1420879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86419D31-9407-4031-88AD-98666FEBD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905" y="1003868"/>
            <a:ext cx="2830040" cy="1198514"/>
          </a:xfrm>
          <a:prstGeom prst="rect">
            <a:avLst/>
          </a:prstGeom>
        </p:spPr>
      </p:pic>
      <p:sp>
        <p:nvSpPr>
          <p:cNvPr id="38" name="Объект 2">
            <a:extLst>
              <a:ext uri="{FF2B5EF4-FFF2-40B4-BE49-F238E27FC236}">
                <a16:creationId xmlns:a16="http://schemas.microsoft.com/office/drawing/2014/main" id="{44CAAD84-28B8-4406-8F16-4895960A9530}"/>
              </a:ext>
            </a:extLst>
          </p:cNvPr>
          <p:cNvSpPr>
            <a:spLocks noGrp="1"/>
          </p:cNvSpPr>
          <p:nvPr/>
        </p:nvSpPr>
        <p:spPr>
          <a:xfrm>
            <a:off x="722391" y="974884"/>
            <a:ext cx="3125709" cy="1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Buck </a:t>
            </a:r>
            <a:r>
              <a:rPr lang="ru-RU" sz="1500" dirty="0"/>
              <a:t>Классическая понижающая схема</a:t>
            </a:r>
            <a:r>
              <a:rPr lang="en-US" sz="1500" dirty="0"/>
              <a:t> </a:t>
            </a:r>
            <a:r>
              <a:rPr lang="ru-RU" sz="1500" dirty="0"/>
              <a:t>1 ключ, управление не привязано к общему проводу</a:t>
            </a:r>
          </a:p>
          <a:p>
            <a:endParaRPr lang="ru-RU" sz="1800" dirty="0"/>
          </a:p>
        </p:txBody>
      </p:sp>
      <p:sp>
        <p:nvSpPr>
          <p:cNvPr id="39" name="Объект 2">
            <a:extLst>
              <a:ext uri="{FF2B5EF4-FFF2-40B4-BE49-F238E27FC236}">
                <a16:creationId xmlns:a16="http://schemas.microsoft.com/office/drawing/2014/main" id="{07E45210-3F92-46FE-87B8-2EA7BFEA9040}"/>
              </a:ext>
            </a:extLst>
          </p:cNvPr>
          <p:cNvSpPr txBox="1">
            <a:spLocks/>
          </p:cNvSpPr>
          <p:nvPr/>
        </p:nvSpPr>
        <p:spPr>
          <a:xfrm>
            <a:off x="5554478" y="718181"/>
            <a:ext cx="3970784" cy="1612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Boost</a:t>
            </a:r>
          </a:p>
          <a:p>
            <a:pPr algn="ctr"/>
            <a:r>
              <a:rPr lang="ru-RU" sz="1800" dirty="0"/>
              <a:t>Классическая повышающая схема</a:t>
            </a:r>
          </a:p>
          <a:p>
            <a:pPr algn="ctr"/>
            <a:r>
              <a:rPr lang="ru-RU" sz="1800" dirty="0"/>
              <a:t>1 ключ, управление привязано к общему проводу</a:t>
            </a:r>
          </a:p>
        </p:txBody>
      </p:sp>
      <p:sp>
        <p:nvSpPr>
          <p:cNvPr id="40" name="Объект 2">
            <a:extLst>
              <a:ext uri="{FF2B5EF4-FFF2-40B4-BE49-F238E27FC236}">
                <a16:creationId xmlns:a16="http://schemas.microsoft.com/office/drawing/2014/main" id="{4D45209A-9108-4A1F-9C82-CF141C120E5F}"/>
              </a:ext>
            </a:extLst>
          </p:cNvPr>
          <p:cNvSpPr txBox="1">
            <a:spLocks/>
          </p:cNvSpPr>
          <p:nvPr/>
        </p:nvSpPr>
        <p:spPr>
          <a:xfrm>
            <a:off x="1319445" y="6076737"/>
            <a:ext cx="8846864" cy="457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 dirty="0"/>
              <a:t>Топология </a:t>
            </a:r>
            <a:r>
              <a:rPr lang="ru-RU" dirty="0" err="1"/>
              <a:t>Шеппарда</a:t>
            </a:r>
            <a:r>
              <a:rPr lang="ru-RU" dirty="0"/>
              <a:t>-Тейлора (</a:t>
            </a:r>
            <a:r>
              <a:rPr lang="en-US" dirty="0"/>
              <a:t>Shepperd-Taylor)</a:t>
            </a:r>
          </a:p>
          <a:p>
            <a:pPr algn="ctr"/>
            <a:endParaRPr lang="ru-RU" sz="2100" dirty="0"/>
          </a:p>
          <a:p>
            <a:pPr algn="ctr"/>
            <a:r>
              <a:rPr lang="ru-RU" sz="2100" dirty="0"/>
              <a:t>Совмещает вышеуказанные топологии за счет применения обоих схем включения накопительных элементов</a:t>
            </a:r>
          </a:p>
          <a:p>
            <a:pPr algn="ctr"/>
            <a:r>
              <a:rPr lang="ru-RU" sz="2100" dirty="0"/>
              <a:t>Инвертированное выходное напряжение</a:t>
            </a:r>
          </a:p>
          <a:p>
            <a:pPr algn="ctr"/>
            <a:r>
              <a:rPr lang="ru-RU" sz="2100" dirty="0"/>
              <a:t>2 ключа, требуется драйвер верхнего плеча</a:t>
            </a:r>
          </a:p>
          <a:p>
            <a:pPr algn="ctr"/>
            <a:r>
              <a:rPr lang="ru-RU" sz="2100" dirty="0"/>
              <a:t>Применение двух индуктивностей приближает расчет к топологиям </a:t>
            </a:r>
            <a:r>
              <a:rPr lang="en-US" sz="2100" dirty="0"/>
              <a:t>SEPIC</a:t>
            </a:r>
            <a:r>
              <a:rPr lang="ru-RU" sz="2100" dirty="0"/>
              <a:t>, </a:t>
            </a:r>
            <a:r>
              <a:rPr lang="en-US" sz="2100" dirty="0"/>
              <a:t>Zeta, Cuk</a:t>
            </a:r>
            <a:endParaRPr lang="ru-RU" sz="2100" dirty="0"/>
          </a:p>
          <a:p>
            <a:endParaRPr lang="ru-RU" sz="1800" dirty="0"/>
          </a:p>
        </p:txBody>
      </p:sp>
      <p:sp>
        <p:nvSpPr>
          <p:cNvPr id="41" name="Прямоугольник 40"/>
          <p:cNvSpPr/>
          <p:nvPr/>
        </p:nvSpPr>
        <p:spPr>
          <a:xfrm>
            <a:off x="302864" y="4022436"/>
            <a:ext cx="56281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Схема классического понижающего преобразователя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3" name="Прямоугольник 42"/>
          <p:cNvSpPr/>
          <p:nvPr/>
        </p:nvSpPr>
        <p:spPr>
          <a:xfrm>
            <a:off x="5740609" y="4022436"/>
            <a:ext cx="51339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2. Схема классического повещающего  преобразователя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2726" y="39815"/>
            <a:ext cx="909446" cy="98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76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 bwMode="auto">
          <a:xfrm>
            <a:off x="1168360" y="425958"/>
            <a:ext cx="6004633" cy="9541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2800" dirty="0"/>
              <a:t>Схема преобразователя </a:t>
            </a:r>
            <a:r>
              <a:rPr lang="ru-RU" sz="2800" dirty="0" err="1"/>
              <a:t>Шеппарда</a:t>
            </a:r>
            <a:r>
              <a:rPr lang="ru-RU" sz="2800" dirty="0"/>
              <a:t>-Тейлора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4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48387"/>
            <a:ext cx="6877516" cy="7417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333" y="39814"/>
            <a:ext cx="897233" cy="732224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22441" y="187443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4881" y="1242972"/>
            <a:ext cx="8347115" cy="4166496"/>
          </a:xfrm>
          <a:prstGeom prst="rect">
            <a:avLst/>
          </a:prstGeom>
        </p:spPr>
      </p:pic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3C47C89F-5E94-2EDF-F308-6A884E75B977}"/>
              </a:ext>
            </a:extLst>
          </p:cNvPr>
          <p:cNvSpPr/>
          <p:nvPr/>
        </p:nvSpPr>
        <p:spPr>
          <a:xfrm>
            <a:off x="3994184" y="4958468"/>
            <a:ext cx="47885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/>
              <a:t>Рисунок 3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ru-RU" dirty="0"/>
              <a:t> Схема </a:t>
            </a:r>
            <a:r>
              <a:rPr lang="en-US" dirty="0"/>
              <a:t>DC</a:t>
            </a:r>
            <a:r>
              <a:rPr lang="ru-RU" dirty="0"/>
              <a:t>/</a:t>
            </a:r>
            <a:r>
              <a:rPr lang="en-US" dirty="0"/>
              <a:t>DC</a:t>
            </a:r>
            <a:r>
              <a:rPr lang="ru-RU" dirty="0"/>
              <a:t> преобразователя </a:t>
            </a:r>
            <a:r>
              <a:rPr lang="ru-RU" dirty="0" err="1"/>
              <a:t>Шеппарда</a:t>
            </a:r>
            <a:r>
              <a:rPr lang="ru-RU" dirty="0"/>
              <a:t>-Тейлора</a:t>
            </a:r>
          </a:p>
        </p:txBody>
      </p:sp>
    </p:spTree>
    <p:extLst>
      <p:ext uri="{BB962C8B-B14F-4D97-AF65-F5344CB8AC3E}">
        <p14:creationId xmlns:p14="http://schemas.microsoft.com/office/powerpoint/2010/main" val="791881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 bwMode="auto">
          <a:xfrm>
            <a:off x="1168360" y="425958"/>
            <a:ext cx="600463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2800" dirty="0"/>
              <a:t>Математическая модель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5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48387"/>
            <a:ext cx="6877516" cy="7417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333" y="39814"/>
            <a:ext cx="897233" cy="732224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03391" y="216018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2B934AC1-DE40-4FC6-B592-0904A6C51021}"/>
                  </a:ext>
                </a:extLst>
              </p:cNvPr>
              <p:cNvSpPr/>
              <p:nvPr/>
            </p:nvSpPr>
            <p:spPr>
              <a:xfrm>
                <a:off x="1168360" y="3133315"/>
                <a:ext cx="5346740" cy="23331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m>
                                            <m:mPr>
                                              <m:plcHide m:val="on"/>
                                              <m:mcs>
                                                <m:mc>
                                                  <m:mcPr>
                                                    <m:count m:val="2"/>
                                                    <m:mcJc m:val="center"/>
                                                  </m:mcPr>
                                                </m:mc>
                                              </m:mcs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mPr>
                                            <m:mr>
                                              <m:e>
                                                <m:r>
                                                  <a:rPr lang="ru-RU" i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  <m:e>
                                                <m:r>
                                                  <a:rPr lang="ru-RU" i="0">
                                                    <a:latin typeface="Cambria Math" panose="02040503050406030204" pitchFamily="18" charset="0"/>
                                                  </a:rPr>
                                                  <m:t>0</m:t>
                                                </m:r>
                                              </m:e>
                                            </m:mr>
                                          </m:m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ru-RU" i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  <m:t>𝐿</m:t>
                                        </m:r>
                                        <m:r>
                                          <a:rPr lang="ru-RU" i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𝐿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ru-RU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i="1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i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𝑅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∗</m:t>
                                              </m:r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𝐶</m:t>
                                              </m:r>
                                              <m:r>
                                                <a:rPr lang="ru-RU" i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ru-RU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plcHide m:val="on"/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ru-RU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f>
                                        <m:f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𝐿</m:t>
                                          </m:r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den>
                                      </m:f>
                                    </m:e>
                                  </m:mr>
                                  <m:m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ru-RU" i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ru-RU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𝑈𝑖𝑛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Прямоугольник 35">
                <a:extLst>
                  <a:ext uri="{FF2B5EF4-FFF2-40B4-BE49-F238E27FC236}">
                    <a16:creationId xmlns:a16="http://schemas.microsoft.com/office/drawing/2014/main" id="{2B934AC1-DE40-4FC6-B592-0904A6C510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360" y="3133315"/>
                <a:ext cx="5346740" cy="23331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E0F39AFB-C2B0-4E94-BABB-3EC3DB21E5C7}"/>
                  </a:ext>
                </a:extLst>
              </p:cNvPr>
              <p:cNvSpPr/>
              <p:nvPr/>
            </p:nvSpPr>
            <p:spPr>
              <a:xfrm>
                <a:off x="7237113" y="4105685"/>
                <a:ext cx="1516249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𝑉𝑐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𝑉𝑖𝑛</m:t>
                          </m:r>
                        </m:den>
                      </m:f>
                      <m:r>
                        <a:rPr lang="ru-RU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8" name="Прямоугольник 37">
                <a:extLst>
                  <a:ext uri="{FF2B5EF4-FFF2-40B4-BE49-F238E27FC236}">
                    <a16:creationId xmlns:a16="http://schemas.microsoft.com/office/drawing/2014/main" id="{E0F39AFB-C2B0-4E94-BABB-3EC3DB21E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7113" y="4105685"/>
                <a:ext cx="1516249" cy="6127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19C1FF31-2992-4AE8-8CBD-19F3C7F409EE}"/>
                  </a:ext>
                </a:extLst>
              </p:cNvPr>
              <p:cNvSpPr/>
              <p:nvPr/>
            </p:nvSpPr>
            <p:spPr>
              <a:xfrm>
                <a:off x="7241548" y="3133315"/>
                <a:ext cx="1561966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𝑉𝑐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Прямоугольник 38">
                <a:extLst>
                  <a:ext uri="{FF2B5EF4-FFF2-40B4-BE49-F238E27FC236}">
                    <a16:creationId xmlns:a16="http://schemas.microsoft.com/office/drawing/2014/main" id="{19C1FF31-2992-4AE8-8CBD-19F3C7F40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1548" y="3133315"/>
                <a:ext cx="1561966" cy="6127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06A3FF2B-65E3-4469-A51B-2A040AF4F46E}"/>
                  </a:ext>
                </a:extLst>
              </p:cNvPr>
              <p:cNvSpPr/>
              <p:nvPr/>
            </p:nvSpPr>
            <p:spPr>
              <a:xfrm>
                <a:off x="7172993" y="4860888"/>
                <a:ext cx="1644488" cy="612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𝑉𝑖𝑛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0" name="Прямоугольник 39">
                <a:extLst>
                  <a:ext uri="{FF2B5EF4-FFF2-40B4-BE49-F238E27FC236}">
                    <a16:creationId xmlns:a16="http://schemas.microsoft.com/office/drawing/2014/main" id="{06A3FF2B-65E3-4469-A51B-2A040AF4F4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2993" y="4860888"/>
                <a:ext cx="1644488" cy="6127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Объект 2">
            <a:extLst>
              <a:ext uri="{FF2B5EF4-FFF2-40B4-BE49-F238E27FC236}">
                <a16:creationId xmlns:a16="http://schemas.microsoft.com/office/drawing/2014/main" id="{B530020B-4C9C-4F61-A871-817894A864C0}"/>
              </a:ext>
            </a:extLst>
          </p:cNvPr>
          <p:cNvSpPr txBox="1">
            <a:spLocks/>
          </p:cNvSpPr>
          <p:nvPr/>
        </p:nvSpPr>
        <p:spPr>
          <a:xfrm>
            <a:off x="964740" y="1380065"/>
            <a:ext cx="8280919" cy="1483049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Записав параметры цепей в матричном виде, становится возможным получение простых алгебраических уравнений для расчета параметров схемы: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9AA2D0D4-2C4F-4E14-A46D-B514B717A87D}"/>
                  </a:ext>
                </a:extLst>
              </p:cNvPr>
              <p:cNvSpPr/>
              <p:nvPr/>
            </p:nvSpPr>
            <p:spPr>
              <a:xfrm>
                <a:off x="9825351" y="3113774"/>
                <a:ext cx="1079142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ru-RU">
                          <a:latin typeface="Cambria Math" panose="02040503050406030204" pitchFamily="18" charset="0"/>
                        </a:rPr>
                        <m:t>2=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ru-RU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3" name="Прямоугольник 42">
                <a:extLst>
                  <a:ext uri="{FF2B5EF4-FFF2-40B4-BE49-F238E27FC236}">
                    <a16:creationId xmlns:a16="http://schemas.microsoft.com/office/drawing/2014/main" id="{9AA2D0D4-2C4F-4E14-A46D-B514B717A8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5351" y="3113774"/>
                <a:ext cx="1079142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A8A56949-E417-47C8-92BA-3EA0CD20247F}"/>
                  </a:ext>
                </a:extLst>
              </p:cNvPr>
              <p:cNvSpPr/>
              <p:nvPr/>
            </p:nvSpPr>
            <p:spPr>
              <a:xfrm>
                <a:off x="9914603" y="4200269"/>
                <a:ext cx="1505861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1−2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4" name="Прямоугольник 43">
                <a:extLst>
                  <a:ext uri="{FF2B5EF4-FFF2-40B4-BE49-F238E27FC236}">
                    <a16:creationId xmlns:a16="http://schemas.microsoft.com/office/drawing/2014/main" id="{A8A56949-E417-47C8-92BA-3EA0CD2024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603" y="4200269"/>
                <a:ext cx="1505861" cy="6109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3752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6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48387"/>
            <a:ext cx="6877516" cy="7417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333" y="39814"/>
            <a:ext cx="897233" cy="732224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03391" y="216018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80546337-7728-4FC4-8CD6-3C21FC4A8BF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3654007" y="958138"/>
            <a:ext cx="5451190" cy="21794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 bwMode="auto">
          <a:xfrm>
            <a:off x="-93611" y="248818"/>
            <a:ext cx="600463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2800" noProof="0" dirty="0"/>
              <a:t>Моделирование 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DC073BED-E7D9-4EBF-BE51-19DEDD7B9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060" y="4010327"/>
            <a:ext cx="2664295" cy="2164088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D97E2B32-F101-4FF5-B21F-0914FC00EC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5106" y="3961040"/>
            <a:ext cx="2501219" cy="2031629"/>
          </a:xfrm>
          <a:prstGeom prst="rect">
            <a:avLst/>
          </a:prstGeom>
        </p:spPr>
      </p:pic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B7A37E4-7F4B-42A3-A612-5BE170A503EB}"/>
              </a:ext>
            </a:extLst>
          </p:cNvPr>
          <p:cNvSpPr/>
          <p:nvPr/>
        </p:nvSpPr>
        <p:spPr>
          <a:xfrm>
            <a:off x="3890465" y="3297767"/>
            <a:ext cx="44915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Рисунок 4 – Схема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преобразователя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Шеппарда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-Тейлора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Multisim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C572474-0DB6-4A5C-8C27-DC13579C0B1B}"/>
              </a:ext>
            </a:extLst>
          </p:cNvPr>
          <p:cNvSpPr/>
          <p:nvPr/>
        </p:nvSpPr>
        <p:spPr>
          <a:xfrm>
            <a:off x="622705" y="6268368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400" dirty="0"/>
              <a:t>Рисунок 5 - Осциллограмма </a:t>
            </a:r>
          </a:p>
          <a:p>
            <a:pPr algn="ctr"/>
            <a:r>
              <a:rPr lang="ru-RU" sz="1400" dirty="0"/>
              <a:t>Выхода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преобразователя</a:t>
            </a:r>
            <a:r>
              <a:rPr lang="ru-RU" sz="1400" dirty="0"/>
              <a:t> на рабочий режим</a:t>
            </a:r>
          </a:p>
        </p:txBody>
      </p:sp>
      <p:sp>
        <p:nvSpPr>
          <p:cNvPr id="43" name="Прямоугольник 42"/>
          <p:cNvSpPr/>
          <p:nvPr/>
        </p:nvSpPr>
        <p:spPr>
          <a:xfrm>
            <a:off x="7883751" y="6165783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sz="1400" dirty="0"/>
              <a:t>Рисунок 6 - Осциллограмма </a:t>
            </a:r>
          </a:p>
          <a:p>
            <a:pPr algn="ctr"/>
            <a:r>
              <a:rPr lang="ru-RU" sz="1400" dirty="0"/>
              <a:t>под нагрузкой</a:t>
            </a:r>
          </a:p>
        </p:txBody>
      </p:sp>
    </p:spTree>
    <p:extLst>
      <p:ext uri="{BB962C8B-B14F-4D97-AF65-F5344CB8AC3E}">
        <p14:creationId xmlns:p14="http://schemas.microsoft.com/office/powerpoint/2010/main" val="3836667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 bwMode="auto">
          <a:xfrm>
            <a:off x="1168360" y="425957"/>
            <a:ext cx="782093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2800" dirty="0"/>
              <a:t>Макет преобразователя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7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48387"/>
            <a:ext cx="6877516" cy="7417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333" y="39814"/>
            <a:ext cx="897233" cy="732224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03391" y="216018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D56830B-1B8B-4F19-A7CF-3CF6105DA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691" y="1325526"/>
            <a:ext cx="4994520" cy="2152451"/>
          </a:xfrm>
          <a:prstGeom prst="rect">
            <a:avLst/>
          </a:prstGeom>
        </p:spPr>
      </p:pic>
      <p:pic>
        <p:nvPicPr>
          <p:cNvPr id="36" name="Рисунок 35"/>
          <p:cNvPicPr/>
          <p:nvPr/>
        </p:nvPicPr>
        <p:blipFill>
          <a:blip r:embed="rId5"/>
          <a:stretch>
            <a:fillRect/>
          </a:stretch>
        </p:blipFill>
        <p:spPr>
          <a:xfrm>
            <a:off x="6953841" y="2103080"/>
            <a:ext cx="4774981" cy="103099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68361" y="4162425"/>
            <a:ext cx="711839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Управление транзисторами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IRFZ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44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происходит с помощью лабораторного генератора с выходными параметрами сигнала, представленными на рисунке. </a:t>
            </a:r>
            <a:r>
              <a:rPr lang="ru-RU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Коэффициент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заполнения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изменятся в пределах от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0.05 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до 0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.5.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309" y="3762582"/>
            <a:ext cx="2327793" cy="2227770"/>
          </a:xfrm>
          <a:prstGeom prst="rect">
            <a:avLst/>
          </a:prstGeom>
        </p:spPr>
      </p:pic>
      <p:sp>
        <p:nvSpPr>
          <p:cNvPr id="38" name="Прямоугольник 37"/>
          <p:cNvSpPr/>
          <p:nvPr/>
        </p:nvSpPr>
        <p:spPr>
          <a:xfrm>
            <a:off x="1113186" y="3772575"/>
            <a:ext cx="513397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7</a:t>
            </a:r>
            <a:r>
              <a:rPr lang="ru-RU" sz="1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-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Макет преобразователя 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6953841" y="3249355"/>
            <a:ext cx="51339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8. Трассировка платы преобразователя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7058025" y="6152307"/>
            <a:ext cx="51339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9. Параметры сигнала 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254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 bwMode="auto">
          <a:xfrm>
            <a:off x="1168360" y="425958"/>
            <a:ext cx="600463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2800" noProof="0" dirty="0"/>
              <a:t>Нагрузочные характеристики</a:t>
            </a:r>
            <a:endParaRPr kumimoji="0" lang="ru-RU" sz="2800" b="1" i="0" u="none" strike="noStrike" kern="1200" cap="none" spc="0" normalizeH="0" baseline="0" noProof="0" dirty="0">
              <a:ln>
                <a:noFill/>
              </a:ln>
              <a:solidFill>
                <a:srgbClr val="712073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8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48387"/>
            <a:ext cx="6877516" cy="7417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333" y="39814"/>
            <a:ext cx="897233" cy="732224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03391" y="216018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36" name="Диаграмма 35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8870038"/>
              </p:ext>
            </p:extLst>
          </p:nvPr>
        </p:nvGraphicFramePr>
        <p:xfrm>
          <a:off x="1113186" y="1342563"/>
          <a:ext cx="4863931" cy="237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8" name="Диаграмма 37">
            <a:extLst>
              <a:ext uri="{FF2B5EF4-FFF2-40B4-BE49-F238E27FC236}">
                <a16:creationId xmlns:a16="http://schemas.microsoft.com/office/drawing/2014/main"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9644373"/>
              </p:ext>
            </p:extLst>
          </p:nvPr>
        </p:nvGraphicFramePr>
        <p:xfrm>
          <a:off x="6477000" y="1680738"/>
          <a:ext cx="4747222" cy="20918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39" name="Диаграмма 38">
            <a:extLst>
              <a:ext uri="{FF2B5EF4-FFF2-40B4-BE49-F238E27FC236}">
                <a16:creationId xmlns:a16="http://schemas.microsoft.com/office/drawing/2014/main" id="{00000000-0008-0000-0100-000007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9525414"/>
              </p:ext>
            </p:extLst>
          </p:nvPr>
        </p:nvGraphicFramePr>
        <p:xfrm>
          <a:off x="3654858" y="4216175"/>
          <a:ext cx="4644518" cy="2230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113186" y="3772575"/>
            <a:ext cx="51339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10. Нагрузочная характеристика при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1200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вых</a:t>
            </a:r>
            <a:r>
              <a:rPr lang="ru-RU" sz="1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=12 В,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1200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вх</a:t>
            </a:r>
            <a:r>
              <a:rPr lang="ru-RU" sz="1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=12 В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0" name="Прямоугольник 39"/>
          <p:cNvSpPr/>
          <p:nvPr/>
        </p:nvSpPr>
        <p:spPr>
          <a:xfrm>
            <a:off x="3435849" y="6376982"/>
            <a:ext cx="5133975" cy="339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12. Нагрузочная характеристика при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1200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вых</a:t>
            </a:r>
            <a:r>
              <a:rPr lang="ru-RU" sz="1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=12 В,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1200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вх</a:t>
            </a:r>
            <a:r>
              <a:rPr lang="ru-RU" sz="1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=21 В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1" name="Прямоугольник 40"/>
          <p:cNvSpPr/>
          <p:nvPr/>
        </p:nvSpPr>
        <p:spPr>
          <a:xfrm>
            <a:off x="6242131" y="3782253"/>
            <a:ext cx="5133975" cy="339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ru-RU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Рисунок 11. Нагрузочная характеристика при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1200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вых</a:t>
            </a:r>
            <a:r>
              <a:rPr lang="ru-RU" sz="1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=12 В,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</a:t>
            </a:r>
            <a:r>
              <a:rPr lang="ru-RU" sz="1200" baseline="-250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вх</a:t>
            </a:r>
            <a:r>
              <a:rPr lang="ru-RU" sz="12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=5 В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8051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 bwMode="auto">
          <a:xfrm>
            <a:off x="1168360" y="425958"/>
            <a:ext cx="600463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12"/>
          <p:cNvSpPr/>
          <p:nvPr/>
        </p:nvSpPr>
        <p:spPr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kumimoji="0" lang="ru-RU" sz="10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9</a:t>
            </a:fld>
            <a:endParaRPr kumimoji="0" lang="ru-RU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cxnSp>
        <p:nvCxnSpPr>
          <p:cNvPr id="18" name="Прямая соединительная линия 17"/>
          <p:cNvCxnSpPr/>
          <p:nvPr/>
        </p:nvCxnSpPr>
        <p:spPr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3067903" y="3048387"/>
            <a:ext cx="6877516" cy="74171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333" y="39814"/>
            <a:ext cx="897233" cy="732224"/>
          </a:xfrm>
          <a:prstGeom prst="rect">
            <a:avLst/>
          </a:prstGeom>
        </p:spPr>
      </p:pic>
      <p:grpSp>
        <p:nvGrpSpPr>
          <p:cNvPr id="8" name="Группа 7"/>
          <p:cNvGrpSpPr/>
          <p:nvPr/>
        </p:nvGrpSpPr>
        <p:grpSpPr>
          <a:xfrm>
            <a:off x="9703391" y="216018"/>
            <a:ext cx="2022129" cy="1417607"/>
            <a:chOff x="4091278" y="2349598"/>
            <a:chExt cx="3638550" cy="2550794"/>
          </a:xfrm>
          <a:solidFill>
            <a:srgbClr val="B26397"/>
          </a:solidFill>
        </p:grpSpPr>
        <p:sp>
          <p:nvSpPr>
            <p:cNvPr id="9" name="Полилиния: фигура 8"/>
            <p:cNvSpPr/>
            <p:nvPr/>
          </p:nvSpPr>
          <p:spPr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>
              <a:xfrm>
                <a:off x="4808219" y="3815715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>
            <a:xfrm>
              <a:off x="4852325" y="3924080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>
              <a:xfrm>
                <a:off x="7633334" y="4011929"/>
                <a:ext cx="136207" cy="40004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>
            <a:xfrm>
              <a:off x="4804700" y="2349598"/>
              <a:ext cx="2550795" cy="2550794"/>
              <a:chOff x="4990147" y="2152650"/>
              <a:chExt cx="2550795" cy="2550794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5" name="Прямоугольник 4"/>
          <p:cNvSpPr/>
          <p:nvPr/>
        </p:nvSpPr>
        <p:spPr>
          <a:xfrm>
            <a:off x="1381125" y="2400300"/>
            <a:ext cx="90538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ходе выполнения </a:t>
            </a:r>
            <a:r>
              <a:rPr lang="ru-RU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дипломной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работы были изучены топологии современных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DC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преобразователей. Была выделена топология Шеппарда-Тейлора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изучена и построена его математическая </a:t>
            </a:r>
            <a: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модель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ru-RU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проведено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моделирование и анализ его схемы в </a:t>
            </a:r>
            <a:r>
              <a:rPr lang="en-US" dirty="0"/>
              <a:t>Multisim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 так же был изготовлен макет преобразователя и проведено исследование его характеристик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29812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0MhMW7kRpq69QUaym87WA"/>
</p:tagLst>
</file>

<file path=ppt/theme/theme1.xml><?xml version="1.0" encoding="utf-8"?>
<a:theme xmlns:a="http://schemas.openxmlformats.org/drawing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</a:ln>
      </a:spPr>
      <a:bodyPr vert="horz" wrap="square" lIns="0" tIns="0" rIns="0" bIns="0" numCol="1" rtlCol="0" anchor="t" anchorCtr="0" compatLnSpc="1">
        <a:spAutoFit/>
      </a:bodyPr>
      <a:lstStyle>
        <a:defPPr marL="0" indent="0" algn="l" defTabSz="914400">
          <a:buClr>
            <a:schemeClr val="accent5"/>
          </a:buClr>
          <a:buFontTx/>
          <a:buNone/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Ari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703</Words>
  <Application>Microsoft Office PowerPoint</Application>
  <PresentationFormat>Широкоэкранный</PresentationFormat>
  <Paragraphs>68</Paragraphs>
  <Slides>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7" baseType="lpstr">
      <vt:lpstr>Arial Black</vt:lpstr>
      <vt:lpstr>Arial</vt:lpstr>
      <vt:lpstr>Calibri</vt:lpstr>
      <vt:lpstr>Wingdings</vt:lpstr>
      <vt:lpstr>Times New Roman</vt:lpstr>
      <vt:lpstr>Cambria Math</vt:lpstr>
      <vt:lpstr>1_Theme1</vt:lpstr>
      <vt:lpstr>Слайд think-cell</vt:lpstr>
      <vt:lpstr>DC/DС преобразователь Шеппарда-Тейлора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>Битюков Владимир Ксенофонтович</cp:lastModifiedBy>
  <cp:revision>935</cp:revision>
  <dcterms:created xsi:type="dcterms:W3CDTF">2021-05-24T15:42:00Z</dcterms:created>
  <dcterms:modified xsi:type="dcterms:W3CDTF">2026-05-26T14:04:19Z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B73C33B4A643478BA89D158647E181E5_13</vt:lpwstr>
  </property>
  <property fmtid="{D5CDD505-2E9C-101B-9397-08002B2CF9AE}" pid="3" name="KSOProductBuildVer">
    <vt:lpwstr>1049-12.2.0.23196</vt:lpwstr>
  </property>
</Properties>
</file>