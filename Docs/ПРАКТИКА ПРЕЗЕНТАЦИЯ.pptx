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 showSpecialPlsOnTitleSld="0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2" d="100"/>
          <a:sy n="102" d="100"/>
        </p:scale>
        <p:origin x="108" y="1374"/>
      </p:cViewPr>
      <p:guideLst>
        <p:guide pos="216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671554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94524575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34EB398-B442-45BA-9714-71F58C4930F9}" type="datetimeFigureOut">
              <a:rPr lang="ru-RU"/>
              <a:t>20.05.2025</a:t>
            </a:fld>
            <a:endParaRPr lang="ru-RU"/>
          </a:p>
        </p:txBody>
      </p:sp>
      <p:sp>
        <p:nvSpPr>
          <p:cNvPr id="1446638196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598452915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83015799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13137884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D575A8C-2CD7-4A96-8CF0-3C3325D58922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0EA214-F0F1-3EB2-5C5B-C10737DE13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45FEA4-781B-DF09-2CDC-FFF2DABA03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8146508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508489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44837593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75A8C-2CD7-4A96-8CF0-3C3325D58922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FBD8C6-67CB-D478-DF4A-24CDC78D1C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78C483-9CDE-2CD1-860F-1192A673DB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1D1D48-B3E1-2D33-088E-0D6E346613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F85733-A2AB-C68A-B104-992D30811F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482D3F-3FB1-33E4-500A-28FC71434F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2A7CAD-A9E7-2F57-CEA2-2D34A790C8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2FC45F-95F9-01F0-75BF-4AFB21E766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984857" name="Заголовок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52418859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163574220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BCF9233-DD65-46E8-A30F-03AA7A06ED01}" type="datetime1">
              <a:rPr lang="ru-RU"/>
              <a:t>20.05.2025</a:t>
            </a:fld>
            <a:endParaRPr lang="ru-RU"/>
          </a:p>
        </p:txBody>
      </p:sp>
      <p:sp>
        <p:nvSpPr>
          <p:cNvPr id="52543414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06597347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E931CF-8E6D-4B97-9067-040DF6937663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576792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93098924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43439498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72DA109-FBEF-4A95-B7F8-973B7B639468}" type="datetime1">
              <a:rPr lang="ru-RU"/>
              <a:t>20.05.2025</a:t>
            </a:fld>
            <a:endParaRPr lang="ru-RU"/>
          </a:p>
        </p:txBody>
      </p:sp>
      <p:sp>
        <p:nvSpPr>
          <p:cNvPr id="1262154806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10196635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E931CF-8E6D-4B97-9067-040DF6937663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144635" name="Заголовок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33565664" name="Текст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0889736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E901203-0AA9-4598-875D-1C933213A358}" type="datetime1">
              <a:rPr lang="ru-RU"/>
              <a:t>20.05.2025</a:t>
            </a:fld>
            <a:endParaRPr lang="ru-RU"/>
          </a:p>
        </p:txBody>
      </p:sp>
      <p:sp>
        <p:nvSpPr>
          <p:cNvPr id="948180347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97582237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E931CF-8E6D-4B97-9067-040DF6937663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623162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44293840" name="Объект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01744388" name="Объект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04864267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F711E3D-114E-4C4F-AC1E-A68B3472484E}" type="datetime1">
              <a:rPr lang="ru-RU"/>
              <a:t>20.05.2025</a:t>
            </a:fld>
            <a:endParaRPr lang="ru-RU"/>
          </a:p>
        </p:txBody>
      </p:sp>
      <p:sp>
        <p:nvSpPr>
          <p:cNvPr id="1827036325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0662352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E931CF-8E6D-4B97-9067-040DF6937663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5587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99849614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13087103" name="Объект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550669367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64992983" name="Объект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3518400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553E7B5-AD71-46CC-83FD-2ABB54CCBEF1}" type="datetime1">
              <a:rPr lang="ru-RU"/>
              <a:t>20.05.2025</a:t>
            </a:fld>
            <a:endParaRPr lang="ru-RU"/>
          </a:p>
        </p:txBody>
      </p:sp>
      <p:sp>
        <p:nvSpPr>
          <p:cNvPr id="1502084709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56511306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E931CF-8E6D-4B97-9067-040DF6937663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278961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43697446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05FF408-B156-466D-A246-1A723F150C92}" type="datetime1">
              <a:rPr lang="ru-RU"/>
              <a:t>20.05.2025</a:t>
            </a:fld>
            <a:endParaRPr lang="ru-RU"/>
          </a:p>
        </p:txBody>
      </p:sp>
      <p:sp>
        <p:nvSpPr>
          <p:cNvPr id="1422504033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75602992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E931CF-8E6D-4B97-9067-040DF6937663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697956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54F0E67-0EF1-4F2A-92AF-BDD24CC481E9}" type="datetime1">
              <a:rPr lang="ru-RU"/>
              <a:t>20.05.2025</a:t>
            </a:fld>
            <a:endParaRPr lang="ru-RU"/>
          </a:p>
        </p:txBody>
      </p:sp>
      <p:sp>
        <p:nvSpPr>
          <p:cNvPr id="887711671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45379209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E931CF-8E6D-4B97-9067-040DF6937663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18089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24299759" name="Объект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6332342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46040993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1F8CD32-DC15-4061-A850-D0A6984672A0}" type="datetime1">
              <a:rPr lang="ru-RU"/>
              <a:t>20.05.2025</a:t>
            </a:fld>
            <a:endParaRPr lang="ru-RU"/>
          </a:p>
        </p:txBody>
      </p:sp>
      <p:sp>
        <p:nvSpPr>
          <p:cNvPr id="298617040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60133362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E931CF-8E6D-4B97-9067-040DF6937663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426499" name="Заголовок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69548161" name="Рисунок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1016667229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125855071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73EC151-443B-43E6-BE7B-4819E113FD63}" type="datetime1">
              <a:rPr lang="ru-RU"/>
              <a:t>20.05.2025</a:t>
            </a:fld>
            <a:endParaRPr lang="ru-RU"/>
          </a:p>
        </p:txBody>
      </p:sp>
      <p:sp>
        <p:nvSpPr>
          <p:cNvPr id="193892152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852879184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E931CF-8E6D-4B97-9067-040DF6937663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975325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42377655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53090343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47D653-2EED-4083-9461-AF988441930D}" type="datetime1">
              <a:rPr lang="ru-RU"/>
              <a:t>20.05.2025</a:t>
            </a:fld>
            <a:endParaRPr lang="ru-RU"/>
          </a:p>
        </p:txBody>
      </p:sp>
      <p:sp>
        <p:nvSpPr>
          <p:cNvPr id="1898409239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798677602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E931CF-8E6D-4B97-9067-040DF6937663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1074637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8298533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4004687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E73E7AD-F67D-4327-9395-562C5475C171}" type="datetime1">
              <a:rPr lang="ru-RU"/>
              <a:t>20.05.2025</a:t>
            </a:fld>
            <a:endParaRPr lang="ru-RU"/>
          </a:p>
        </p:txBody>
      </p:sp>
      <p:sp>
        <p:nvSpPr>
          <p:cNvPr id="1910580326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20775324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E931CF-8E6D-4B97-9067-040DF6937663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0394160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9599528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2252069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2FED76-8AB4-4492-8C23-DF06CF56B90D}" type="datetime1">
              <a:rPr lang="ru-RU"/>
              <a:t>20.05.2025</a:t>
            </a:fld>
            <a:endParaRPr lang="ru-RU"/>
          </a:p>
        </p:txBody>
      </p:sp>
      <p:sp>
        <p:nvSpPr>
          <p:cNvPr id="21108537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4648798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7E931CF-8E6D-4B97-9067-040DF6937663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3117267" name="Заголовок 3"/>
          <p:cNvSpPr>
            <a:spLocks noGrp="1"/>
          </p:cNvSpPr>
          <p:nvPr>
            <p:ph type="title"/>
          </p:nvPr>
        </p:nvSpPr>
        <p:spPr bwMode="auto">
          <a:xfrm>
            <a:off x="744793" y="3176971"/>
            <a:ext cx="7772400" cy="2232248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2800">
                <a:latin typeface="Times New Roman"/>
                <a:cs typeface="Times New Roman"/>
              </a:rPr>
              <a:t>Программируемый источник питания</a:t>
            </a:r>
            <a:endParaRPr sz="2800"/>
          </a:p>
        </p:txBody>
      </p:sp>
      <p:sp>
        <p:nvSpPr>
          <p:cNvPr id="189235082" name="TextBox 5"/>
          <p:cNvSpPr txBox="1"/>
          <p:nvPr/>
        </p:nvSpPr>
        <p:spPr bwMode="auto">
          <a:xfrm>
            <a:off x="2201575" y="4947554"/>
            <a:ext cx="6918526" cy="9147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 b="1">
                <a:latin typeface="Times New Roman"/>
                <a:cs typeface="Times New Roman"/>
              </a:rPr>
              <a:t>Докладчик: </a:t>
            </a:r>
            <a:r>
              <a:rPr lang="ru-RU">
                <a:latin typeface="Times New Roman"/>
                <a:cs typeface="Times New Roman"/>
              </a:rPr>
              <a:t>Каряев Георгий Дмитриевич РРБО-02-2</a:t>
            </a:r>
            <a:r>
              <a:rPr lang="en-US">
                <a:latin typeface="Times New Roman"/>
                <a:cs typeface="Times New Roman"/>
              </a:rPr>
              <a:t>2</a:t>
            </a:r>
            <a:endParaRPr/>
          </a:p>
          <a:p>
            <a:pPr>
              <a:defRPr/>
            </a:pPr>
            <a:r>
              <a:rPr lang="ru-RU" b="1">
                <a:latin typeface="Times New Roman"/>
                <a:cs typeface="Times New Roman"/>
              </a:rPr>
              <a:t>Руководитель ВКР</a:t>
            </a:r>
            <a:r>
              <a:rPr lang="ru-RU">
                <a:latin typeface="Times New Roman"/>
                <a:cs typeface="Times New Roman"/>
              </a:rPr>
              <a:t>: д.т.н. доцент Бойков Константин Анатольвевич</a:t>
            </a:r>
            <a:endParaRPr/>
          </a:p>
          <a:p>
            <a:pPr>
              <a:defRPr/>
            </a:pPr>
            <a:r>
              <a:rPr lang="ru-RU" b="1">
                <a:latin typeface="Times New Roman"/>
                <a:cs typeface="Times New Roman"/>
              </a:rPr>
              <a:t>Консультант по ВКР: </a:t>
            </a:r>
            <a:r>
              <a:rPr lang="ru-RU">
                <a:latin typeface="Times New Roman"/>
                <a:cs typeface="Times New Roman"/>
              </a:rPr>
              <a:t>ассистент</a:t>
            </a:r>
            <a:r>
              <a:rPr lang="ru-RU" b="1">
                <a:latin typeface="Times New Roman"/>
                <a:cs typeface="Times New Roman"/>
              </a:rPr>
              <a:t> </a:t>
            </a:r>
            <a:r>
              <a:rPr lang="ru-RU">
                <a:latin typeface="Times New Roman"/>
                <a:cs typeface="Times New Roman"/>
              </a:rPr>
              <a:t>Левченко Никита Романович</a:t>
            </a:r>
            <a:endParaRPr lang="ru-RU" b="1">
              <a:latin typeface="Times New Roman"/>
              <a:cs typeface="Times New Roman"/>
            </a:endParaRPr>
          </a:p>
        </p:txBody>
      </p:sp>
      <p:pic>
        <p:nvPicPr>
          <p:cNvPr id="1074553642" name="Рисунок 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021470" y="301442"/>
            <a:ext cx="1219048" cy="1219048"/>
          </a:xfrm>
          <a:prstGeom prst="rect">
            <a:avLst/>
          </a:prstGeom>
        </p:spPr>
      </p:pic>
      <p:sp>
        <p:nvSpPr>
          <p:cNvPr id="317396212" name="Прямоугольник 7"/>
          <p:cNvSpPr/>
          <p:nvPr/>
        </p:nvSpPr>
        <p:spPr bwMode="auto">
          <a:xfrm>
            <a:off x="1043608" y="1511871"/>
            <a:ext cx="73448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b="1">
                <a:latin typeface="Times New Roman"/>
                <a:cs typeface="Times New Roman"/>
              </a:rPr>
              <a:t>Федеральное государственное бюджетное общеобразовательное учреждение высшего образования</a:t>
            </a:r>
            <a:endParaRPr/>
          </a:p>
          <a:p>
            <a:pPr algn="ctr">
              <a:defRPr/>
            </a:pPr>
            <a:r>
              <a:rPr lang="ru-RU" b="1">
                <a:latin typeface="Times New Roman"/>
                <a:cs typeface="Times New Roman"/>
              </a:rPr>
              <a:t>«МИРЭА – Российский технологический университет»</a:t>
            </a:r>
            <a:endParaRPr/>
          </a:p>
        </p:txBody>
      </p:sp>
      <p:cxnSp>
        <p:nvCxnSpPr>
          <p:cNvPr id="500095859" name="Прямая соединительная линия 9"/>
          <p:cNvCxnSpPr/>
          <p:nvPr/>
        </p:nvCxnSpPr>
        <p:spPr bwMode="auto">
          <a:xfrm>
            <a:off x="235315" y="2564904"/>
            <a:ext cx="879135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148161" name="Номер слайда 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E931CF-8E6D-4B97-9067-040DF6937663}" type="slidenum">
              <a:rPr lang="ru-RU"/>
              <a:t>2</a:t>
            </a:fld>
            <a:endParaRPr lang="ru-RU"/>
          </a:p>
        </p:txBody>
      </p:sp>
      <p:sp>
        <p:nvSpPr>
          <p:cNvPr id="1736669646" name="Прямоугольник 1"/>
          <p:cNvSpPr/>
          <p:nvPr/>
        </p:nvSpPr>
        <p:spPr bwMode="auto">
          <a:xfrm>
            <a:off x="236012" y="2368620"/>
            <a:ext cx="8433935" cy="228635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457200" algn="just">
              <a:defRPr/>
            </a:pPr>
            <a:r>
              <a:rPr lang="ru-RU" b="1">
                <a:latin typeface="Times New Roman"/>
                <a:cs typeface="Times New Roman"/>
              </a:rPr>
              <a:t>Цель работы: </a:t>
            </a:r>
            <a:r>
              <a:rPr lang="ru-RU" sz="1800" b="1" i="0" u="none" strike="noStrike" cap="none" spc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Разработка электрической принципиальной схемы управляемого выпрямителя с фазовым регулированием для использования в качестве лабораторного источника питания в составе автономных радиотехнических комплексов.</a:t>
            </a:r>
            <a:endParaRPr/>
          </a:p>
          <a:p>
            <a:pPr indent="457200" algn="just">
              <a:defRPr/>
            </a:pPr>
            <a:r>
              <a:rPr lang="ru-RU" b="1">
                <a:latin typeface="Times New Roman"/>
                <a:cs typeface="Times New Roman"/>
              </a:rPr>
              <a:t>Актуальность</a:t>
            </a:r>
            <a:r>
              <a:rPr lang="en-US" b="1">
                <a:latin typeface="Times New Roman"/>
                <a:cs typeface="Times New Roman"/>
              </a:rPr>
              <a:t>:</a:t>
            </a:r>
            <a:r>
              <a:rPr lang="ru-RU" b="1">
                <a:latin typeface="Times New Roman"/>
                <a:cs typeface="Times New Roman"/>
              </a:rPr>
              <a:t> </a:t>
            </a:r>
            <a:r>
              <a:rPr lang="ru-RU" sz="1800" b="1" i="0" u="none" strike="noStrike" cap="none" spc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Фазовое управление на тиристорах — регулировка мощности в нагрузке практически без потерь на ключе, возможность отказа от массивного трансформатора</a:t>
            </a:r>
            <a:endParaRPr/>
          </a:p>
          <a:p>
            <a:pPr indent="457200" algn="just">
              <a:defRPr/>
            </a:pPr>
            <a:r>
              <a:rPr lang="ru-RU" b="1">
                <a:latin typeface="Times New Roman"/>
                <a:cs typeface="Times New Roman"/>
              </a:rPr>
              <a:t>Задачи</a:t>
            </a:r>
            <a:r>
              <a:rPr lang="en-US" b="1">
                <a:latin typeface="Times New Roman"/>
                <a:cs typeface="Times New Roman"/>
              </a:rPr>
              <a:t>: </a:t>
            </a:r>
            <a:r>
              <a:rPr lang="ru-RU" sz="1800" b="1" i="0" u="none" strike="noStrike" cap="none" spc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Разработать полную принципиальную схему устройства.</a:t>
            </a:r>
            <a:endParaRPr lang="ru-RU">
              <a:latin typeface="Times New Roman"/>
              <a:cs typeface="Times New Roman"/>
            </a:endParaRPr>
          </a:p>
        </p:txBody>
      </p:sp>
      <p:sp>
        <p:nvSpPr>
          <p:cNvPr id="518570652" name="Прямоугольник 2"/>
          <p:cNvSpPr/>
          <p:nvPr/>
        </p:nvSpPr>
        <p:spPr bwMode="auto">
          <a:xfrm>
            <a:off x="323527" y="5589239"/>
            <a:ext cx="8425656" cy="3661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defRPr/>
            </a:pPr>
            <a:endParaRPr/>
          </a:p>
        </p:txBody>
      </p:sp>
      <p:sp>
        <p:nvSpPr>
          <p:cNvPr id="2064939184" name="Прямоугольник 4"/>
          <p:cNvSpPr/>
          <p:nvPr/>
        </p:nvSpPr>
        <p:spPr bwMode="auto">
          <a:xfrm>
            <a:off x="2249996" y="196624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2000" b="1">
                <a:latin typeface="Times New Roman"/>
                <a:cs typeface="Times New Roman"/>
              </a:rPr>
              <a:t>ВВЕДЕНИЕ</a:t>
            </a:r>
            <a:endParaRPr/>
          </a:p>
        </p:txBody>
      </p:sp>
      <p:sp>
        <p:nvSpPr>
          <p:cNvPr id="1288777409" name="Прямоугольник 8"/>
          <p:cNvSpPr/>
          <p:nvPr/>
        </p:nvSpPr>
        <p:spPr bwMode="auto">
          <a:xfrm>
            <a:off x="395535" y="980727"/>
            <a:ext cx="8281279" cy="3661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762145" name="Прямоугольник 3"/>
          <p:cNvSpPr/>
          <p:nvPr/>
        </p:nvSpPr>
        <p:spPr bwMode="auto">
          <a:xfrm>
            <a:off x="647563" y="427017"/>
            <a:ext cx="7993247" cy="3661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Принцип фазового управления</a:t>
            </a:r>
            <a:endParaRPr/>
          </a:p>
        </p:txBody>
      </p:sp>
      <p:sp>
        <p:nvSpPr>
          <p:cNvPr id="1475154747" name="Прямоугольник 4"/>
          <p:cNvSpPr/>
          <p:nvPr/>
        </p:nvSpPr>
        <p:spPr bwMode="auto">
          <a:xfrm>
            <a:off x="395535" y="1674673"/>
            <a:ext cx="8497303" cy="914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800" b="1" i="1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Суть метода:</a:t>
            </a:r>
            <a:endParaRPr lang="ru-RU" sz="1800" b="1" i="1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indent="457200" algn="just">
              <a:defRPr/>
            </a:pPr>
            <a:r>
              <a:rPr lang="ru-RU" sz="1800" b="1" i="1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Регулирование выходного напряжения путём изменения угла открытия тиристоров α</a:t>
            </a:r>
            <a:endParaRPr/>
          </a:p>
        </p:txBody>
      </p:sp>
      <p:sp>
        <p:nvSpPr>
          <p:cNvPr id="2142170883" name="Прямоугольник 6"/>
          <p:cNvSpPr/>
          <p:nvPr/>
        </p:nvSpPr>
        <p:spPr bwMode="auto">
          <a:xfrm flipH="0" flipV="0">
            <a:off x="555073" y="2598003"/>
            <a:ext cx="7713071" cy="1463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Среднее выходное напряжение:</a:t>
            </a:r>
            <a:endParaRPr sz="1800" b="1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Uср = (Umax / π) × (1 + cos α)</a:t>
            </a:r>
            <a:endParaRPr lang="ru-RU" sz="18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lang="ru-RU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	α = 0° → Uвых максимально</a:t>
            </a:r>
            <a:endParaRPr lang="ru-RU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	α = 180° → Uвых = 0</a:t>
            </a:r>
            <a:endParaRPr/>
          </a:p>
        </p:txBody>
      </p:sp>
      <p:sp>
        <p:nvSpPr>
          <p:cNvPr id="1633860690" name="Прямоугольник 7"/>
          <p:cNvSpPr/>
          <p:nvPr/>
        </p:nvSpPr>
        <p:spPr bwMode="auto">
          <a:xfrm flipH="0" flipV="0">
            <a:off x="539551" y="4344309"/>
            <a:ext cx="7277432" cy="2012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Преимущества:</a:t>
            </a:r>
            <a:endParaRPr sz="1800" b="1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Высокий КПД (до 98–99%) за счёт ключевого режима работы тиристоров</a:t>
            </a:r>
            <a:endParaRPr lang="en-US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Плавная регулировка в широких пределах</a:t>
            </a:r>
            <a:endParaRPr lang="en-US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ru-RU">
              <a:latin typeface="Times New Roman"/>
              <a:cs typeface="Times New Roman"/>
            </a:endParaRPr>
          </a:p>
        </p:txBody>
      </p:sp>
      <p:sp>
        <p:nvSpPr>
          <p:cNvPr id="1436726480" name="Номер слайда 9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E931CF-8E6D-4B97-9067-040DF6937663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722190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6624174" y="6379115"/>
            <a:ext cx="2133600" cy="365125"/>
          </a:xfrm>
        </p:spPr>
        <p:txBody>
          <a:bodyPr/>
          <a:lstStyle/>
          <a:p>
            <a:pPr>
              <a:defRPr/>
            </a:pPr>
            <a:fld id="{27E931CF-8E6D-4B97-9067-040DF6937663}" type="slidenum">
              <a:rPr lang="ru-RU"/>
              <a:t>4</a:t>
            </a:fld>
            <a:endParaRPr lang="ru-RU"/>
          </a:p>
        </p:txBody>
      </p:sp>
      <p:sp>
        <p:nvSpPr>
          <p:cNvPr id="526607116" name="Прямоугольник 10"/>
          <p:cNvSpPr/>
          <p:nvPr/>
        </p:nvSpPr>
        <p:spPr bwMode="auto">
          <a:xfrm>
            <a:off x="2248719" y="5722083"/>
            <a:ext cx="4789227" cy="3661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1400"/>
              <a:t> </a:t>
            </a:r>
            <a:endParaRPr/>
          </a:p>
        </p:txBody>
      </p:sp>
      <p:sp>
        <p:nvSpPr>
          <p:cNvPr id="126224058" name="TextBox 11"/>
          <p:cNvSpPr txBox="1"/>
          <p:nvPr/>
        </p:nvSpPr>
        <p:spPr bwMode="auto">
          <a:xfrm>
            <a:off x="1816659" y="144940"/>
            <a:ext cx="5924411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8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Сравнение схем управляемых выпрямителей</a:t>
            </a:r>
            <a:endParaRPr lang="ru-RU" sz="1800">
              <a:latin typeface="Times New Roman"/>
              <a:cs typeface="Times New Roman"/>
            </a:endParaRPr>
          </a:p>
        </p:txBody>
      </p:sp>
      <p:sp>
        <p:nvSpPr>
          <p:cNvPr id="1230936711" name=""/>
          <p:cNvSpPr txBox="1"/>
          <p:nvPr/>
        </p:nvSpPr>
        <p:spPr bwMode="auto">
          <a:xfrm rot="0" flipH="0" flipV="0">
            <a:off x="1527469" y="941023"/>
            <a:ext cx="696659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pic>
        <p:nvPicPr>
          <p:cNvPr id="146899636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254103" y="1736476"/>
            <a:ext cx="4619621" cy="3198161"/>
          </a:xfrm>
          <a:prstGeom prst="rect">
            <a:avLst/>
          </a:prstGeom>
        </p:spPr>
      </p:pic>
      <p:pic>
        <p:nvPicPr>
          <p:cNvPr id="44584271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0" flipH="0" flipV="0">
            <a:off x="4778865" y="1736476"/>
            <a:ext cx="3819524" cy="3133724"/>
          </a:xfrm>
          <a:prstGeom prst="rect">
            <a:avLst/>
          </a:prstGeom>
        </p:spPr>
      </p:pic>
      <p:sp>
        <p:nvSpPr>
          <p:cNvPr id="226880558" name=""/>
          <p:cNvSpPr txBox="1"/>
          <p:nvPr/>
        </p:nvSpPr>
        <p:spPr bwMode="auto">
          <a:xfrm rot="0" flipH="0" flipV="0">
            <a:off x="402831" y="5022600"/>
            <a:ext cx="401193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Симметричный мост</a:t>
            </a:r>
            <a:endParaRPr/>
          </a:p>
        </p:txBody>
      </p:sp>
      <p:sp>
        <p:nvSpPr>
          <p:cNvPr id="990866946" name=""/>
          <p:cNvSpPr txBox="1"/>
          <p:nvPr/>
        </p:nvSpPr>
        <p:spPr bwMode="auto">
          <a:xfrm rot="0" flipH="0" flipV="0">
            <a:off x="4745483" y="5022600"/>
            <a:ext cx="401589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Несимметричный мост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6352432" name="Прямоугольник 7"/>
          <p:cNvSpPr/>
          <p:nvPr/>
        </p:nvSpPr>
        <p:spPr bwMode="auto">
          <a:xfrm>
            <a:off x="899591" y="145129"/>
            <a:ext cx="7801967" cy="3661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b="1">
                <a:latin typeface="Times New Roman"/>
                <a:cs typeface="Times New Roman"/>
              </a:rPr>
              <a:t>Структурная схема устройства</a:t>
            </a:r>
            <a:endParaRPr lang="ru-RU">
              <a:latin typeface="Times New Roman"/>
              <a:cs typeface="Times New Roman"/>
            </a:endParaRPr>
          </a:p>
        </p:txBody>
      </p:sp>
      <p:sp>
        <p:nvSpPr>
          <p:cNvPr id="182833552" name="Номер слайда 9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E931CF-8E6D-4B97-9067-040DF6937663}" type="slidenum">
              <a:rPr lang="ru-RU"/>
              <a:t>5</a:t>
            </a:fld>
            <a:endParaRPr lang="ru-RU"/>
          </a:p>
        </p:txBody>
      </p:sp>
      <p:sp>
        <p:nvSpPr>
          <p:cNvPr id="295500060" name="Прямоугольник 2"/>
          <p:cNvSpPr/>
          <p:nvPr/>
        </p:nvSpPr>
        <p:spPr bwMode="auto">
          <a:xfrm>
            <a:off x="4355491" y="4472843"/>
            <a:ext cx="4788867" cy="30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endParaRPr lang="ru-RU" sz="1400"/>
          </a:p>
        </p:txBody>
      </p:sp>
      <p:sp>
        <p:nvSpPr>
          <p:cNvPr id="999511004" name="Прямоугольник 6"/>
          <p:cNvSpPr/>
          <p:nvPr/>
        </p:nvSpPr>
        <p:spPr bwMode="auto">
          <a:xfrm>
            <a:off x="274901" y="4244700"/>
            <a:ext cx="3842057" cy="3661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id="172158094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74901" y="591575"/>
            <a:ext cx="8288673" cy="4489896"/>
          </a:xfrm>
          <a:prstGeom prst="rect">
            <a:avLst/>
          </a:prstGeom>
        </p:spPr>
      </p:pic>
      <p:sp>
        <p:nvSpPr>
          <p:cNvPr id="781135078" name=""/>
          <p:cNvSpPr txBox="1"/>
          <p:nvPr/>
        </p:nvSpPr>
        <p:spPr bwMode="auto">
          <a:xfrm rot="0" flipH="0" flipV="0">
            <a:off x="12650" y="5233011"/>
            <a:ext cx="9148629" cy="2286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Основные узлы:</a:t>
            </a:r>
            <a:endParaRPr lang="ru-RU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Входной фильтр и защита	Выпрямитель</a:t>
            </a:r>
            <a:b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</a:b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Выходной сглаживающий LC-фильтр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Узел синхронизации </a:t>
            </a:r>
            <a:endParaRPr lang="ru-RU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Узел управления тиристорами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Блок питания цепей управления</a:t>
            </a:r>
            <a:endParaRPr lang="ru-RU" sz="1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Цифровой блок управления </a:t>
            </a:r>
            <a:endParaRPr lang="ru-RU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lang="ru-RU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lang="ru-RU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203590" name="Номер слайда 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E931CF-8E6D-4B97-9067-040DF6937663}" type="slidenum">
              <a:rPr lang="ru-RU"/>
              <a:t>6</a:t>
            </a:fld>
            <a:endParaRPr lang="ru-RU"/>
          </a:p>
        </p:txBody>
      </p:sp>
      <p:sp>
        <p:nvSpPr>
          <p:cNvPr id="321374718" name="TextBox 4"/>
          <p:cNvSpPr txBox="1"/>
          <p:nvPr/>
        </p:nvSpPr>
        <p:spPr bwMode="auto">
          <a:xfrm>
            <a:off x="1745685" y="188640"/>
            <a:ext cx="5931657" cy="36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1800" b="1">
                <a:latin typeface="Times New Roman"/>
                <a:cs typeface="Times New Roman"/>
              </a:rPr>
              <a:t>Выпрямительный блок</a:t>
            </a:r>
            <a:endParaRPr lang="ru-RU" sz="1800">
              <a:latin typeface="Times New Roman"/>
              <a:cs typeface="Times New Roman"/>
            </a:endParaRPr>
          </a:p>
        </p:txBody>
      </p:sp>
      <p:sp>
        <p:nvSpPr>
          <p:cNvPr id="526367227" name="Прямоугольник 6"/>
          <p:cNvSpPr/>
          <p:nvPr/>
        </p:nvSpPr>
        <p:spPr bwMode="auto">
          <a:xfrm flipH="0" flipV="0">
            <a:off x="430067" y="5501034"/>
            <a:ext cx="5355682" cy="9452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Тиристоры </a:t>
            </a:r>
            <a:r>
              <a:rPr lang="en-US" sz="1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VS</a:t>
            </a:r>
            <a:r>
              <a:rPr lang="ru-RU" sz="1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1, </a:t>
            </a:r>
            <a:r>
              <a:rPr lang="en-US" sz="1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VS</a:t>
            </a:r>
            <a:r>
              <a:rPr lang="ru-RU" sz="1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2 — верхние плечи моста</a:t>
            </a:r>
            <a:endParaRPr lang="ru-RU" sz="14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Диоды </a:t>
            </a:r>
            <a:r>
              <a:rPr lang="en-US" sz="1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</a:t>
            </a:r>
            <a:r>
              <a:rPr lang="ru-RU" sz="1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D1, </a:t>
            </a:r>
            <a:r>
              <a:rPr lang="en-US" sz="1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</a:t>
            </a:r>
            <a:r>
              <a:rPr lang="ru-RU" sz="1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D2 — нижние плечи моста</a:t>
            </a:r>
            <a:endParaRPr lang="ru-RU" sz="14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Выходной фильтр: Г-образный LC-фильтр (L1 = 1 мГн, C2, C3 = 1 мкФ)</a:t>
            </a:r>
            <a:endParaRPr lang="ru-RU" sz="14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467579815" name="Прямоугольник 8"/>
          <p:cNvSpPr/>
          <p:nvPr/>
        </p:nvSpPr>
        <p:spPr bwMode="auto">
          <a:xfrm>
            <a:off x="1985949" y="3113715"/>
            <a:ext cx="4788867" cy="3661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endParaRPr/>
          </a:p>
        </p:txBody>
      </p:sp>
      <p:pic>
        <p:nvPicPr>
          <p:cNvPr id="50591127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30067" y="1756052"/>
            <a:ext cx="8284224" cy="45285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86239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Узел управления тиристорами</a:t>
            </a:r>
            <a:endParaRPr/>
          </a:p>
        </p:txBody>
      </p:sp>
      <p:sp>
        <p:nvSpPr>
          <p:cNvPr id="1493559179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8AB1A84-C9C7-71CD-C9A2-3F552589DA5A}" type="slidenum">
              <a:rPr lang="ru-RU"/>
              <a:t/>
            </a:fld>
            <a:endParaRPr lang="ru-RU"/>
          </a:p>
        </p:txBody>
      </p:sp>
      <p:pic>
        <p:nvPicPr>
          <p:cNvPr id="100152103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57200" y="1486300"/>
            <a:ext cx="8229600" cy="3218819"/>
          </a:xfrm>
          <a:prstGeom prst="rect">
            <a:avLst/>
          </a:prstGeom>
        </p:spPr>
      </p:pic>
      <p:sp>
        <p:nvSpPr>
          <p:cNvPr id="1528476566" name=""/>
          <p:cNvSpPr txBox="1"/>
          <p:nvPr/>
        </p:nvSpPr>
        <p:spPr bwMode="auto">
          <a:xfrm rot="0" flipH="0" flipV="0">
            <a:off x="457200" y="4705120"/>
            <a:ext cx="8234279" cy="1463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Сигнал от STM32 (PA1/PA2) открывает MOSFET</a:t>
            </a:r>
            <a:endParaRPr/>
          </a:p>
          <a:p>
            <a:pPr algn="l">
              <a:defRPr/>
            </a:pPr>
            <a:endParaRPr/>
          </a:p>
          <a:p>
            <a:pPr marL="283879" indent="-283879" algn="l">
              <a:buAutoNum type="arabicPeriod"/>
              <a:defRPr/>
            </a:pPr>
            <a:r>
              <a:rPr/>
              <a:t>Зажигается светодиод оптрона PC817</a:t>
            </a:r>
            <a:endParaRPr/>
          </a:p>
          <a:p>
            <a:pPr marL="283879" indent="-283879" algn="l">
              <a:buAutoNum type="arabicPeriod"/>
              <a:defRPr/>
            </a:pPr>
            <a:r>
              <a:rPr/>
              <a:t>Выходной транзистор оптрона открывается</a:t>
            </a:r>
            <a:endParaRPr/>
          </a:p>
          <a:p>
            <a:pPr marL="283879" indent="-283879" algn="l">
              <a:buAutoNum type="arabicPeriod"/>
              <a:defRPr/>
            </a:pPr>
            <a:r>
              <a:rPr/>
              <a:t>Напряжение питания через R11 подаётся на управляющий электрод тиристора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662560" name="Заголовок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Микроконтроллерный блок управления</a:t>
            </a:r>
            <a:endParaRPr/>
          </a:p>
        </p:txBody>
      </p:sp>
      <p:sp>
        <p:nvSpPr>
          <p:cNvPr id="290093648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3030495-CFFB-8431-7225-9EBAD61C3CB2}" type="slidenum">
              <a:rPr lang="ru-RU"/>
              <a:t/>
            </a:fld>
            <a:endParaRPr lang="ru-RU"/>
          </a:p>
        </p:txBody>
      </p:sp>
      <p:pic>
        <p:nvPicPr>
          <p:cNvPr id="181304295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55813" y="1486493"/>
            <a:ext cx="5095301" cy="4130456"/>
          </a:xfrm>
          <a:prstGeom prst="rect">
            <a:avLst/>
          </a:prstGeom>
        </p:spPr>
      </p:pic>
      <p:sp>
        <p:nvSpPr>
          <p:cNvPr id="877073273" name=""/>
          <p:cNvSpPr txBox="1"/>
          <p:nvPr/>
        </p:nvSpPr>
        <p:spPr bwMode="auto">
          <a:xfrm rot="0" flipH="0" flipV="0">
            <a:off x="712264" y="5624649"/>
            <a:ext cx="7183838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Выбран: STM32F103C8</a:t>
            </a:r>
            <a:endParaRPr/>
          </a:p>
          <a:p>
            <a:pPr algn="l">
              <a:defRPr/>
            </a:pPr>
            <a:r>
              <a:rPr/>
              <a:t>Тактовая частота: 72 МГц</a:t>
            </a:r>
            <a:endParaRPr/>
          </a:p>
          <a:p>
            <a:pPr algn="l">
              <a:defRPr/>
            </a:pPr>
            <a:r>
              <a:rPr/>
              <a:t>Аппаратные таймеры для точного отсчёта задержки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1821626" name="Заголовок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/>
              <a:t> </a:t>
            </a:r>
            <a:r>
              <a:rPr lang="en-US" sz="44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Алгоритм работы микроконтроллера</a:t>
            </a:r>
            <a:endParaRPr/>
          </a:p>
        </p:txBody>
      </p:sp>
      <p:sp>
        <p:nvSpPr>
          <p:cNvPr id="53285961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9A92268-A0FE-6C8B-D29B-CD682FD39C61}" type="slidenum">
              <a:rPr lang="ru-RU"/>
              <a:t/>
            </a:fld>
            <a:endParaRPr lang="ru-RU"/>
          </a:p>
        </p:txBody>
      </p:sp>
      <p:pic>
        <p:nvPicPr>
          <p:cNvPr id="104333519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060451" y="1537770"/>
            <a:ext cx="3023096" cy="4762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3227" name="Заголовок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ru-RU"/>
              <a:t>Моделирование в </a:t>
            </a:r>
            <a:r>
              <a:rPr lang="en-US"/>
              <a:t>MICROCHIP </a:t>
            </a:r>
            <a:r>
              <a:rPr lang="en-US"/>
              <a:t>STUDIO</a:t>
            </a:r>
            <a:endParaRPr/>
          </a:p>
        </p:txBody>
      </p:sp>
      <p:sp>
        <p:nvSpPr>
          <p:cNvPr id="450427121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549B724-6123-9384-197A-206C48600788}" type="slidenum">
              <a:rPr lang="ru-RU"/>
              <a:t/>
            </a:fld>
            <a:endParaRPr lang="ru-RU"/>
          </a:p>
        </p:txBody>
      </p:sp>
      <p:pic>
        <p:nvPicPr>
          <p:cNvPr id="128917581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22981" y="1629769"/>
            <a:ext cx="7153274" cy="465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ONLYOFFICE/9.1.0.167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МНОГОФУНКЦИОНАЛЬНАЯ ПЛАТФОРМА КИБЕРФИЗИЧЕСКОГО ПРОТОТИПИРОВАНИЯ СИГНАЛЬНЫХ РАДИОМОДУЛЕЙ</dc:title>
  <dc:creator>Алексей</dc:creator>
  <cp:lastModifiedBy/>
  <cp:revision>145</cp:revision>
  <dcterms:created xsi:type="dcterms:W3CDTF">2024-05-30T07:01:30Z</dcterms:created>
  <dcterms:modified xsi:type="dcterms:W3CDTF">2026-04-15T12:31:10Z</dcterms:modified>
</cp:coreProperties>
</file>